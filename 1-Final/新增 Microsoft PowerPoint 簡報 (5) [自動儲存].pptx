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57" r:id="rId4"/>
    <p:sldId id="269" r:id="rId5"/>
    <p:sldId id="271" r:id="rId6"/>
    <p:sldId id="270" r:id="rId7"/>
  </p:sldIdLst>
  <p:sldSz cx="6858000" cy="9144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28" autoAdjust="0"/>
    <p:restoredTop sz="94660"/>
  </p:normalViewPr>
  <p:slideViewPr>
    <p:cSldViewPr>
      <p:cViewPr>
        <p:scale>
          <a:sx n="80" d="100"/>
          <a:sy n="80" d="100"/>
        </p:scale>
        <p:origin x="468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image" Target="../media/image8.jp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jpg"/><Relationship Id="rId7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9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="" xmlns:a16="http://schemas.microsoft.com/office/drawing/2014/main" id="{7FCD40F2-9077-1A99-8F71-7B84A1B2A76A}"/>
              </a:ext>
            </a:extLst>
          </p:cNvPr>
          <p:cNvSpPr txBox="1"/>
          <p:nvPr/>
        </p:nvSpPr>
        <p:spPr>
          <a:xfrm>
            <a:off x="1" y="179512"/>
            <a:ext cx="685800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b="1" dirty="0"/>
              <a:t>團購網主要需求如下：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人數約</a:t>
            </a:r>
            <a:r>
              <a:rPr lang="en-US" altLang="zh-TW" sz="1400" b="1" dirty="0"/>
              <a:t>100</a:t>
            </a:r>
            <a:r>
              <a:rPr lang="zh-TW" altLang="en-US" sz="1400" b="1" dirty="0"/>
              <a:t>人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可視化手機操作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訂貨及管理操作</a:t>
            </a:r>
            <a:r>
              <a:rPr lang="en-US" altLang="zh-TW" sz="1400" b="1" dirty="0"/>
              <a:t>)</a:t>
            </a:r>
          </a:p>
          <a:p>
            <a:pPr marL="342900" indent="-342900">
              <a:buAutoNum type="arabicParenR"/>
            </a:pPr>
            <a:r>
              <a:rPr lang="zh-TW" altLang="en-US" sz="1400" b="1" dirty="0"/>
              <a:t>買家部份</a:t>
            </a:r>
            <a:r>
              <a:rPr lang="en-US" altLang="zh-TW" sz="1400" b="1" dirty="0"/>
              <a:t>: 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選單的</a:t>
            </a:r>
            <a:r>
              <a:rPr lang="en-US" altLang="zh-TW" sz="1400" b="1" dirty="0"/>
              <a:t>3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我要下單 </a:t>
            </a:r>
            <a:endParaRPr lang="en-US" altLang="zh-TW" sz="1400" b="1" dirty="0"/>
          </a:p>
          <a:p>
            <a:r>
              <a:rPr lang="en-US" altLang="zh-TW" sz="1400" b="1" dirty="0"/>
              <a:t>             </a:t>
            </a:r>
            <a:r>
              <a:rPr lang="zh-TW" altLang="en-US" sz="1400" b="1" dirty="0"/>
              <a:t>顯示商品清單縮圖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點選購買商品後進入詳細商品頁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下方放</a:t>
            </a:r>
            <a:r>
              <a:rPr lang="en-US" altLang="zh-TW" sz="1400" b="1" dirty="0"/>
              <a:t>”</a:t>
            </a:r>
            <a:r>
              <a:rPr lang="zh-TW" altLang="en-US" sz="1400" b="1" dirty="0"/>
              <a:t>購買按鈕</a:t>
            </a:r>
            <a:r>
              <a:rPr lang="en-US" altLang="zh-TW" sz="1400" b="1" dirty="0"/>
              <a:t>”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我的訂單</a:t>
            </a:r>
            <a:r>
              <a:rPr lang="en-US" altLang="zh-TW" sz="1400" b="1" dirty="0"/>
              <a:t>/</a:t>
            </a:r>
          </a:p>
          <a:p>
            <a:r>
              <a:rPr lang="en-US" altLang="zh-TW" sz="1400" b="1" dirty="0"/>
              <a:t>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顯示查詢買家個人已訂未到貨列表</a:t>
            </a:r>
            <a:endParaRPr lang="en-US" altLang="zh-TW" sz="1400" b="1" dirty="0"/>
          </a:p>
          <a:p>
            <a:r>
              <a:rPr lang="zh-TW" altLang="en-US" sz="1400" b="1" dirty="0"/>
              <a:t>         修改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管理者未結單時都可刪除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重訂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結單後不可修改</a:t>
            </a:r>
            <a:r>
              <a:rPr lang="en-US" altLang="zh-TW" sz="1400" b="1" dirty="0">
                <a:sym typeface="Wingdings" panose="05000000000000000000" pitchFamily="2" charset="2"/>
              </a:rPr>
              <a:t></a:t>
            </a:r>
            <a:r>
              <a:rPr lang="zh-TW" altLang="en-US" sz="1400" b="1" dirty="0">
                <a:sym typeface="Wingdings" panose="05000000000000000000" pitchFamily="2" charset="2"/>
              </a:rPr>
              <a:t>列入已訂未到貨清單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(c) </a:t>
            </a:r>
            <a:r>
              <a:rPr lang="zh-TW" altLang="en-US" sz="1400" b="1" dirty="0">
                <a:sym typeface="Wingdings" panose="05000000000000000000" pitchFamily="2" charset="2"/>
              </a:rPr>
              <a:t>現貨出清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搶購溢多現貨商品</a:t>
            </a:r>
            <a:endParaRPr lang="en-US" altLang="zh-TW" sz="1400" b="1" dirty="0"/>
          </a:p>
          <a:p>
            <a:r>
              <a:rPr lang="en-US" altLang="zh-TW" sz="1400" b="1" dirty="0"/>
              <a:t>4)    </a:t>
            </a:r>
            <a:r>
              <a:rPr lang="zh-TW" altLang="en-US" sz="1400" b="1" dirty="0"/>
              <a:t>團主管理部份</a:t>
            </a:r>
            <a:r>
              <a:rPr lang="en-US" altLang="zh-TW" sz="1400" b="1" dirty="0"/>
              <a:t>:(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選單第</a:t>
            </a:r>
            <a:r>
              <a:rPr lang="en-US" altLang="zh-TW" sz="1400" b="1" dirty="0"/>
              <a:t>4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商品管理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上架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1. </a:t>
            </a:r>
            <a:r>
              <a:rPr lang="zh-TW" altLang="en-US" sz="1400" b="1" dirty="0"/>
              <a:t>新商品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含訂價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數量</a:t>
            </a:r>
            <a:r>
              <a:rPr lang="en-US" altLang="zh-TW" sz="1400" b="1" dirty="0"/>
              <a:t>…</a:t>
            </a:r>
            <a:r>
              <a:rPr lang="zh-TW" altLang="en-US" sz="1400" b="1" dirty="0"/>
              <a:t>各商品結單日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於結單日前</a:t>
            </a:r>
            <a:r>
              <a:rPr lang="en-US" altLang="zh-TW" sz="1400" b="1" dirty="0"/>
              <a:t>1</a:t>
            </a:r>
            <a:r>
              <a:rPr lang="zh-TW" altLang="en-US" sz="1400" b="1" dirty="0"/>
              <a:t>天主動推播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商品即將結單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要訂的請儘快下訂</a:t>
            </a:r>
            <a:r>
              <a:rPr lang="en-US" altLang="zh-TW" sz="1400" b="1" dirty="0"/>
              <a:t>……)</a:t>
            </a:r>
          </a:p>
          <a:p>
            <a:r>
              <a:rPr lang="en-US" altLang="zh-TW" sz="1400" b="1" dirty="0"/>
              <a:t>               2. </a:t>
            </a:r>
            <a:r>
              <a:rPr lang="zh-TW" altLang="en-US" sz="1400" b="1" dirty="0"/>
              <a:t>現貨商品 </a:t>
            </a:r>
            <a:endParaRPr lang="en-US" altLang="zh-TW" sz="1400" b="1" dirty="0"/>
          </a:p>
          <a:p>
            <a:r>
              <a:rPr lang="zh-TW" altLang="en-US" sz="1400" b="1" dirty="0"/>
              <a:t>                    防止同時下單機制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先下單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先壓按鈕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者就刪除該筆商品</a:t>
            </a:r>
            <a:r>
              <a:rPr lang="en-US" altLang="zh-TW" sz="1400" b="1" dirty="0"/>
              <a:t> 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搶購成功時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主動推播該團友已訂</a:t>
            </a:r>
            <a:r>
              <a:rPr lang="en-US" altLang="zh-TW" sz="1400" b="1" dirty="0"/>
              <a:t>……..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/</a:t>
            </a:r>
            <a:r>
              <a:rPr lang="zh-TW" altLang="en-US" sz="1400" b="1" dirty="0"/>
              <a:t>查詢</a:t>
            </a:r>
            <a:endParaRPr lang="en-US" altLang="zh-TW" sz="1400" b="1" dirty="0"/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:</a:t>
            </a:r>
          </a:p>
          <a:p>
            <a:r>
              <a:rPr lang="zh-TW" altLang="en-US" sz="1400" b="1" dirty="0"/>
              <a:t>               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結單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列出目前已過結單日的商品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一鍵結單後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該商品不能再讓買家訂購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(</a:t>
            </a:r>
            <a:r>
              <a:rPr lang="zh-TW" altLang="en-US" sz="1400" b="1" dirty="0"/>
              <a:t>通常商品結單日不等於團主要結單的日期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斷貨商品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 列出已訂未到貨商品供點選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點選後刪除該商品記錄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         </a:t>
            </a:r>
            <a:r>
              <a:rPr lang="zh-TW" altLang="en-US" sz="1400" b="1" dirty="0"/>
              <a:t>主動通知該已訂商品買家</a:t>
            </a:r>
            <a:r>
              <a:rPr lang="en-US" altLang="zh-TW" sz="1400" b="1" dirty="0"/>
              <a:t>,(</a:t>
            </a:r>
            <a:r>
              <a:rPr lang="zh-TW" altLang="en-US" sz="1400" b="1" dirty="0"/>
              <a:t>此商品已斷貨</a:t>
            </a:r>
            <a:r>
              <a:rPr lang="en-US" altLang="zh-TW" sz="1400" b="1" dirty="0"/>
              <a:t>…)</a:t>
            </a:r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</a:t>
            </a:r>
          </a:p>
          <a:p>
            <a:r>
              <a:rPr lang="en-US" altLang="zh-TW" sz="1400" b="1" dirty="0"/>
              <a:t>                1. </a:t>
            </a:r>
            <a:r>
              <a:rPr lang="zh-TW" altLang="en-US" sz="1400" b="1" dirty="0"/>
              <a:t>查詢買家訂購資訊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可依人名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查詢已訂未到貨資訊</a:t>
            </a:r>
            <a:endParaRPr lang="en-US" altLang="zh-TW" sz="1400" b="1" dirty="0"/>
          </a:p>
          <a:p>
            <a:r>
              <a:rPr lang="en-US" altLang="zh-TW" sz="1400" b="1" dirty="0"/>
              <a:t>                3. </a:t>
            </a:r>
            <a:r>
              <a:rPr lang="zh-TW" altLang="en-US" sz="1400" b="1" dirty="0"/>
              <a:t>修改上架商品及未結單商品</a:t>
            </a:r>
            <a:endParaRPr lang="en-US" altLang="zh-TW" sz="1400" b="1" dirty="0"/>
          </a:p>
          <a:p>
            <a:r>
              <a:rPr lang="en-US" altLang="zh-TW" sz="1400" b="1" dirty="0"/>
              <a:t>           (c) </a:t>
            </a:r>
            <a:r>
              <a:rPr lang="zh-TW" altLang="en-US" sz="1400" b="1" dirty="0"/>
              <a:t>到貨點貨</a:t>
            </a:r>
            <a:endParaRPr lang="en-US" altLang="zh-TW" sz="1400" b="1" dirty="0"/>
          </a:p>
          <a:p>
            <a:r>
              <a:rPr lang="en-US" altLang="zh-TW" sz="1400" b="1" dirty="0"/>
              <a:t>              1.</a:t>
            </a:r>
            <a:r>
              <a:rPr lang="zh-TW" altLang="en-US" sz="1400" b="1" dirty="0"/>
              <a:t>列出已訂未到貨商品供點選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含數量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尺寸顏色資訊</a:t>
            </a:r>
            <a:r>
              <a:rPr lang="en-US" altLang="zh-TW" sz="1400" b="1" dirty="0"/>
              <a:t>),</a:t>
            </a:r>
            <a:r>
              <a:rPr lang="zh-TW" altLang="zh-TW" sz="1400" b="1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可逐項勾選完成</a:t>
            </a:r>
            <a:endParaRPr lang="zh-TW" altLang="zh-TW" sz="14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/>
              <a:t>              2.</a:t>
            </a:r>
            <a:r>
              <a:rPr lang="zh-TW" altLang="en-US" sz="1400" b="1" dirty="0"/>
              <a:t>完成到貨商品清點後一鍵清除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不再顯示在商品清單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(d) </a:t>
            </a:r>
            <a:r>
              <a:rPr lang="zh-TW" altLang="en-US" sz="1400" b="1" dirty="0"/>
              <a:t>發貨</a:t>
            </a:r>
            <a:r>
              <a:rPr lang="en-US" altLang="zh-TW" sz="1400" b="1" dirty="0"/>
              <a:t> (</a:t>
            </a:r>
            <a:r>
              <a:rPr lang="zh-TW" altLang="en-US" sz="1400" b="1" dirty="0"/>
              <a:t>列印想要的</a:t>
            </a:r>
            <a:r>
              <a:rPr lang="en-US" altLang="zh-TW" sz="1400" b="1" dirty="0"/>
              <a:t>PDF</a:t>
            </a:r>
            <a:r>
              <a:rPr lang="zh-TW" altLang="en-US" sz="1400" b="1" dirty="0"/>
              <a:t>小紙張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勾選要發貨的訂單</a:t>
            </a:r>
            <a:endParaRPr lang="en-US" altLang="zh-TW" sz="1400" b="1" dirty="0"/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 2. </a:t>
            </a:r>
            <a:r>
              <a:rPr lang="zh-TW" altLang="en-US" sz="1400" b="1" dirty="0">
                <a:sym typeface="Wingdings" panose="05000000000000000000" pitchFamily="2" charset="2"/>
              </a:rPr>
              <a:t>每個買家一小張 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內容</a:t>
            </a:r>
            <a:r>
              <a:rPr lang="en-US" altLang="zh-TW" sz="1400" b="1" dirty="0">
                <a:sym typeface="Wingdings" panose="05000000000000000000" pitchFamily="2" charset="2"/>
              </a:rPr>
              <a:t>:</a:t>
            </a:r>
            <a:r>
              <a:rPr lang="zh-TW" altLang="en-US" sz="1400" b="1" dirty="0">
                <a:sym typeface="Wingdings" panose="05000000000000000000" pitchFamily="2" charset="2"/>
              </a:rPr>
              <a:t>商品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規格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數量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價格小計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超過</a:t>
            </a:r>
            <a:r>
              <a:rPr lang="en-US" altLang="zh-TW" sz="1400" b="1" dirty="0">
                <a:sym typeface="Wingdings" panose="05000000000000000000" pitchFamily="2" charset="2"/>
              </a:rPr>
              <a:t>2</a:t>
            </a:r>
            <a:r>
              <a:rPr lang="zh-TW" altLang="en-US" sz="1400" b="1" dirty="0">
                <a:sym typeface="Wingdings" panose="05000000000000000000" pitchFamily="2" charset="2"/>
              </a:rPr>
              <a:t>張時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r>
              <a:rPr lang="zh-TW" altLang="en-US" sz="1400" b="1" dirty="0">
                <a:sym typeface="Wingdings" panose="05000000000000000000" pitchFamily="2" charset="2"/>
              </a:rPr>
              <a:t>或總計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(e) </a:t>
            </a:r>
            <a:r>
              <a:rPr lang="zh-TW" altLang="en-US" sz="1400" b="1" dirty="0">
                <a:sym typeface="Wingdings" panose="05000000000000000000" pitchFamily="2" charset="2"/>
              </a:rPr>
              <a:t>廠商管理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1.</a:t>
            </a:r>
            <a:r>
              <a:rPr lang="zh-TW" altLang="en-US" sz="1400" b="1" dirty="0">
                <a:sym typeface="Wingdings" panose="05000000000000000000" pitchFamily="2" charset="2"/>
              </a:rPr>
              <a:t>輸入上架商品成本及實際訂購數量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2.</a:t>
            </a:r>
            <a:r>
              <a:rPr lang="zh-TW" altLang="en-US" sz="1400" b="1" dirty="0">
                <a:sym typeface="Wingdings" panose="05000000000000000000" pitchFamily="2" charset="2"/>
              </a:rPr>
              <a:t>查詢已訂未到貨商品列表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zh-TW" altLang="en-US" sz="1400" b="1" dirty="0">
                <a:sym typeface="Wingdings" panose="05000000000000000000" pitchFamily="2" charset="2"/>
              </a:rPr>
              <a:t>              </a:t>
            </a:r>
            <a:r>
              <a:rPr lang="en-US" altLang="zh-TW" sz="1400" b="1" dirty="0">
                <a:sym typeface="Wingdings" panose="05000000000000000000" pitchFamily="2" charset="2"/>
              </a:rPr>
              <a:t>3. </a:t>
            </a:r>
            <a:r>
              <a:rPr lang="zh-TW" altLang="en-US" sz="1400" b="1" dirty="0">
                <a:sym typeface="Wingdings" panose="05000000000000000000" pitchFamily="2" charset="2"/>
              </a:rPr>
              <a:t>列出</a:t>
            </a:r>
            <a:r>
              <a:rPr lang="en-US" altLang="zh-TW" sz="1400" b="1" dirty="0">
                <a:sym typeface="Wingdings" panose="05000000000000000000" pitchFamily="2" charset="2"/>
              </a:rPr>
              <a:t>PDF </a:t>
            </a:r>
            <a:r>
              <a:rPr lang="zh-TW" altLang="en-US" sz="1400" b="1" dirty="0">
                <a:sym typeface="Wingdings" panose="05000000000000000000" pitchFamily="2" charset="2"/>
              </a:rPr>
              <a:t>已結單商品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價錢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總數量</a:t>
            </a:r>
            <a:r>
              <a:rPr lang="en-US" altLang="zh-TW" sz="1400" b="1" dirty="0">
                <a:sym typeface="Wingdings" panose="05000000000000000000" pitchFamily="2" charset="2"/>
              </a:rPr>
              <a:t>) </a:t>
            </a:r>
            <a:r>
              <a:rPr lang="zh-TW" altLang="en-US" sz="1400" b="1" dirty="0">
                <a:sym typeface="Wingdings" panose="05000000000000000000" pitchFamily="2" charset="2"/>
              </a:rPr>
              <a:t>要依此商品列表向廠商訂貨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4.</a:t>
            </a:r>
            <a:r>
              <a:rPr lang="zh-TW" altLang="en-US" sz="1400" b="1" dirty="0">
                <a:sym typeface="Wingdings" panose="05000000000000000000" pitchFamily="2" charset="2"/>
              </a:rPr>
              <a:t>查詢已斷貨商品列表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向廠商結款斷貨商品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5.</a:t>
            </a:r>
            <a:r>
              <a:rPr lang="zh-TW" altLang="en-US" sz="1400" b="1" dirty="0">
                <a:sym typeface="Wingdings" panose="05000000000000000000" pitchFamily="2" charset="2"/>
              </a:rPr>
              <a:t>點選已結清斷貨商品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結清後不再列進斷貨商品列表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隱藏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endParaRPr lang="zh-TW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20626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字方塊 12"/>
          <p:cNvSpPr txBox="1"/>
          <p:nvPr/>
        </p:nvSpPr>
        <p:spPr>
          <a:xfrm>
            <a:off x="2780928" y="-46563"/>
            <a:ext cx="1137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b="1" dirty="0">
                <a:solidFill>
                  <a:srgbClr val="0070C0"/>
                </a:solidFill>
              </a:rPr>
              <a:t>Google Sheet</a:t>
            </a:r>
            <a:endParaRPr lang="zh-TW" altLang="en-US" sz="1350" b="1" dirty="0">
              <a:solidFill>
                <a:srgbClr val="0070C0"/>
              </a:solidFill>
            </a:endParaRPr>
          </a:p>
        </p:txBody>
      </p:sp>
      <p:pic>
        <p:nvPicPr>
          <p:cNvPr id="14" name="圖片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7" y="273554"/>
            <a:ext cx="6858000" cy="659519"/>
          </a:xfrm>
          <a:prstGeom prst="rect">
            <a:avLst/>
          </a:prstGeom>
        </p:spPr>
      </p:pic>
      <p:pic>
        <p:nvPicPr>
          <p:cNvPr id="48" name="圖片 4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949997"/>
            <a:ext cx="6858000" cy="853241"/>
          </a:xfrm>
          <a:prstGeom prst="rect">
            <a:avLst/>
          </a:prstGeom>
        </p:spPr>
      </p:pic>
      <p:pic>
        <p:nvPicPr>
          <p:cNvPr id="52" name="圖片 5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7" y="1787111"/>
            <a:ext cx="6858000" cy="816055"/>
          </a:xfrm>
          <a:prstGeom prst="rect">
            <a:avLst/>
          </a:prstGeom>
        </p:spPr>
      </p:pic>
      <p:pic>
        <p:nvPicPr>
          <p:cNvPr id="53" name="圖片 5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7" y="2608098"/>
            <a:ext cx="6858000" cy="685800"/>
          </a:xfrm>
          <a:prstGeom prst="rect">
            <a:avLst/>
          </a:prstGeom>
        </p:spPr>
      </p:pic>
      <p:pic>
        <p:nvPicPr>
          <p:cNvPr id="54" name="圖片 5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3293898"/>
            <a:ext cx="6858000" cy="1049312"/>
          </a:xfrm>
          <a:prstGeom prst="rect">
            <a:avLst/>
          </a:prstGeom>
        </p:spPr>
      </p:pic>
      <p:pic>
        <p:nvPicPr>
          <p:cNvPr id="55" name="圖片 5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84" y="4376281"/>
            <a:ext cx="6858000" cy="476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444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48" y="3564"/>
            <a:ext cx="6192688" cy="9142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" t="46001" r="87484" b="40889"/>
          <a:stretch/>
        </p:blipFill>
        <p:spPr>
          <a:xfrm>
            <a:off x="150224" y="635386"/>
            <a:ext cx="594067" cy="324036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17" t="69920" r="67535" b="16970"/>
          <a:stretch/>
        </p:blipFill>
        <p:spPr>
          <a:xfrm>
            <a:off x="287855" y="2768835"/>
            <a:ext cx="486055" cy="324036"/>
          </a:xfrm>
          <a:prstGeom prst="rect">
            <a:avLst/>
          </a:prstGeom>
        </p:spPr>
      </p:pic>
      <p:sp>
        <p:nvSpPr>
          <p:cNvPr id="7" name="文字方塊 6"/>
          <p:cNvSpPr txBox="1"/>
          <p:nvPr/>
        </p:nvSpPr>
        <p:spPr>
          <a:xfrm>
            <a:off x="233849" y="214243"/>
            <a:ext cx="15712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50" b="1" dirty="0"/>
              <a:t>Line </a:t>
            </a:r>
            <a:r>
              <a:rPr lang="zh-TW" altLang="en-US" sz="1050" b="1" dirty="0"/>
              <a:t>選單畫面 </a:t>
            </a:r>
            <a:r>
              <a:rPr lang="en-US" altLang="zh-TW" sz="1050" b="1" dirty="0"/>
              <a:t>(4</a:t>
            </a:r>
            <a:r>
              <a:rPr lang="zh-TW" altLang="en-US" sz="1050" b="1" dirty="0"/>
              <a:t>個按鈕</a:t>
            </a:r>
            <a:r>
              <a:rPr lang="en-US" altLang="zh-TW" sz="1050" b="1" dirty="0"/>
              <a:t>)</a:t>
            </a:r>
            <a:endParaRPr lang="zh-TW" altLang="en-US" sz="1050" b="1" dirty="0"/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69" t="44371" r="77627" b="42519"/>
          <a:stretch/>
        </p:blipFill>
        <p:spPr>
          <a:xfrm>
            <a:off x="179843" y="1267608"/>
            <a:ext cx="594066" cy="324036"/>
          </a:xfrm>
          <a:prstGeom prst="rect">
            <a:avLst/>
          </a:prstGeom>
        </p:spPr>
      </p:pic>
      <p:pic>
        <p:nvPicPr>
          <p:cNvPr id="11" name="圖片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5" t="43815" r="66923" b="40890"/>
          <a:stretch/>
        </p:blipFill>
        <p:spPr>
          <a:xfrm>
            <a:off x="172000" y="1972028"/>
            <a:ext cx="648072" cy="378042"/>
          </a:xfrm>
          <a:prstGeom prst="rect">
            <a:avLst/>
          </a:prstGeom>
        </p:spPr>
      </p:pic>
      <p:cxnSp>
        <p:nvCxnSpPr>
          <p:cNvPr id="15" name="直線單箭頭接點 14"/>
          <p:cNvCxnSpPr/>
          <p:nvPr/>
        </p:nvCxnSpPr>
        <p:spPr>
          <a:xfrm>
            <a:off x="820072" y="1514056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/>
          <p:cNvCxnSpPr/>
          <p:nvPr/>
        </p:nvCxnSpPr>
        <p:spPr>
          <a:xfrm>
            <a:off x="820072" y="811978"/>
            <a:ext cx="3470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/>
          <p:nvPr/>
        </p:nvCxnSpPr>
        <p:spPr>
          <a:xfrm>
            <a:off x="820072" y="2142427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/>
          <p:cNvCxnSpPr/>
          <p:nvPr/>
        </p:nvCxnSpPr>
        <p:spPr>
          <a:xfrm>
            <a:off x="820072" y="2930853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79451" y="2567138"/>
            <a:ext cx="2624007" cy="39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管理員入口選單（第一層）</a:t>
            </a:r>
            <a:r>
              <a:rPr lang="en-US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&lt;*</a:t>
            </a:r>
            <a:r>
              <a:rPr lang="zh-TW" altLang="en-US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買家不能進入</a:t>
            </a:r>
            <a:r>
              <a:rPr lang="en-US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&gt;</a:t>
            </a:r>
            <a:endParaRPr lang="zh-TW" altLang="zh-TW" sz="900" kern="1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直線單箭頭接點 25"/>
          <p:cNvCxnSpPr/>
          <p:nvPr/>
        </p:nvCxnSpPr>
        <p:spPr>
          <a:xfrm>
            <a:off x="2277469" y="2930853"/>
            <a:ext cx="648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圖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196" y="2800511"/>
            <a:ext cx="1088273" cy="1141301"/>
          </a:xfrm>
          <a:prstGeom prst="rect">
            <a:avLst/>
          </a:prstGeom>
        </p:spPr>
      </p:pic>
      <p:cxnSp>
        <p:nvCxnSpPr>
          <p:cNvPr id="30" name="直線單箭頭接點 29"/>
          <p:cNvCxnSpPr/>
          <p:nvPr/>
        </p:nvCxnSpPr>
        <p:spPr>
          <a:xfrm>
            <a:off x="3903642" y="2864206"/>
            <a:ext cx="108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圖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096" y="2094406"/>
            <a:ext cx="1545470" cy="1348857"/>
          </a:xfrm>
          <a:prstGeom prst="rect">
            <a:avLst/>
          </a:prstGeom>
        </p:spPr>
      </p:pic>
      <p:pic>
        <p:nvPicPr>
          <p:cNvPr id="41" name="圖片 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9741" y="2700504"/>
            <a:ext cx="1138527" cy="662998"/>
          </a:xfrm>
          <a:prstGeom prst="rect">
            <a:avLst/>
          </a:prstGeom>
        </p:spPr>
      </p:pic>
      <p:pic>
        <p:nvPicPr>
          <p:cNvPr id="42" name="圖片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298" y="3404295"/>
            <a:ext cx="1911262" cy="662998"/>
          </a:xfrm>
          <a:prstGeom prst="rect">
            <a:avLst/>
          </a:prstGeom>
        </p:spPr>
      </p:pic>
      <p:cxnSp>
        <p:nvCxnSpPr>
          <p:cNvPr id="44" name="肘形接點 43"/>
          <p:cNvCxnSpPr/>
          <p:nvPr/>
        </p:nvCxnSpPr>
        <p:spPr>
          <a:xfrm>
            <a:off x="2277469" y="3110641"/>
            <a:ext cx="1061571" cy="616571"/>
          </a:xfrm>
          <a:prstGeom prst="bentConnector3">
            <a:avLst>
              <a:gd name="adj1" fmla="val 556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圖片 4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4205" y="3425667"/>
            <a:ext cx="1586621" cy="251482"/>
          </a:xfrm>
          <a:prstGeom prst="rect">
            <a:avLst/>
          </a:prstGeom>
        </p:spPr>
      </p:pic>
      <p:cxnSp>
        <p:nvCxnSpPr>
          <p:cNvPr id="53" name="直線單箭頭接點 52"/>
          <p:cNvCxnSpPr/>
          <p:nvPr/>
        </p:nvCxnSpPr>
        <p:spPr>
          <a:xfrm>
            <a:off x="4748821" y="3534804"/>
            <a:ext cx="3522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圖片 5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5752" y="3818356"/>
            <a:ext cx="1412870" cy="246910"/>
          </a:xfrm>
          <a:prstGeom prst="rect">
            <a:avLst/>
          </a:prstGeom>
        </p:spPr>
      </p:pic>
      <p:cxnSp>
        <p:nvCxnSpPr>
          <p:cNvPr id="57" name="直線單箭頭接點 56"/>
          <p:cNvCxnSpPr/>
          <p:nvPr/>
        </p:nvCxnSpPr>
        <p:spPr>
          <a:xfrm>
            <a:off x="5231419" y="3924610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/>
          <p:cNvCxnSpPr/>
          <p:nvPr/>
        </p:nvCxnSpPr>
        <p:spPr>
          <a:xfrm>
            <a:off x="2213631" y="3285565"/>
            <a:ext cx="1956197" cy="1035341"/>
          </a:xfrm>
          <a:prstGeom prst="bentConnector3">
            <a:avLst>
              <a:gd name="adj1" fmla="val 307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圖片 6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9038" y="4046174"/>
            <a:ext cx="1449449" cy="525826"/>
          </a:xfrm>
          <a:prstGeom prst="rect">
            <a:avLst/>
          </a:prstGeom>
        </p:spPr>
      </p:pic>
      <p:pic>
        <p:nvPicPr>
          <p:cNvPr id="67" name="圖片 6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163" y="469001"/>
            <a:ext cx="1937882" cy="874348"/>
          </a:xfrm>
          <a:prstGeom prst="rect">
            <a:avLst/>
          </a:prstGeom>
        </p:spPr>
      </p:pic>
      <p:pic>
        <p:nvPicPr>
          <p:cNvPr id="68" name="圖片 6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9196" y="1384142"/>
            <a:ext cx="1024434" cy="386888"/>
          </a:xfrm>
          <a:prstGeom prst="rect">
            <a:avLst/>
          </a:prstGeom>
        </p:spPr>
      </p:pic>
      <p:pic>
        <p:nvPicPr>
          <p:cNvPr id="69" name="圖片 6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7152" y="1847669"/>
            <a:ext cx="1000967" cy="644240"/>
          </a:xfrm>
          <a:prstGeom prst="rect">
            <a:avLst/>
          </a:prstGeom>
        </p:spPr>
      </p:pic>
      <p:pic>
        <p:nvPicPr>
          <p:cNvPr id="70" name="圖片 6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3104" y="4628851"/>
            <a:ext cx="2025572" cy="393226"/>
          </a:xfrm>
          <a:prstGeom prst="rect">
            <a:avLst/>
          </a:prstGeom>
        </p:spPr>
      </p:pic>
      <p:cxnSp>
        <p:nvCxnSpPr>
          <p:cNvPr id="71" name="肘形接點 70"/>
          <p:cNvCxnSpPr>
            <a:endCxn id="70" idx="1"/>
          </p:cNvCxnSpPr>
          <p:nvPr/>
        </p:nvCxnSpPr>
        <p:spPr>
          <a:xfrm>
            <a:off x="1937030" y="3449269"/>
            <a:ext cx="2316074" cy="1376195"/>
          </a:xfrm>
          <a:prstGeom prst="bentConnector3">
            <a:avLst>
              <a:gd name="adj1" fmla="val 333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9" name="圖片 7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9450" y="4000477"/>
            <a:ext cx="2057579" cy="1216258"/>
          </a:xfrm>
          <a:prstGeom prst="rect">
            <a:avLst/>
          </a:prstGeom>
        </p:spPr>
      </p:pic>
      <p:cxnSp>
        <p:nvCxnSpPr>
          <p:cNvPr id="81" name="肘形接點 80"/>
          <p:cNvCxnSpPr/>
          <p:nvPr/>
        </p:nvCxnSpPr>
        <p:spPr>
          <a:xfrm rot="5400000">
            <a:off x="856246" y="3688096"/>
            <a:ext cx="434738" cy="276601"/>
          </a:xfrm>
          <a:prstGeom prst="bentConnector3">
            <a:avLst>
              <a:gd name="adj1" fmla="val 70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右大括弧 84"/>
          <p:cNvSpPr/>
          <p:nvPr/>
        </p:nvSpPr>
        <p:spPr>
          <a:xfrm>
            <a:off x="3095067" y="797404"/>
            <a:ext cx="322521" cy="137238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sz="1350" b="1" dirty="0"/>
          </a:p>
        </p:txBody>
      </p:sp>
      <p:pic>
        <p:nvPicPr>
          <p:cNvPr id="87" name="圖片 8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78337" y="3818356"/>
            <a:ext cx="727011" cy="246910"/>
          </a:xfrm>
          <a:prstGeom prst="rect">
            <a:avLst/>
          </a:prstGeom>
        </p:spPr>
      </p:pic>
      <p:cxnSp>
        <p:nvCxnSpPr>
          <p:cNvPr id="89" name="肘形接點 88"/>
          <p:cNvCxnSpPr/>
          <p:nvPr/>
        </p:nvCxnSpPr>
        <p:spPr>
          <a:xfrm>
            <a:off x="1834131" y="3854296"/>
            <a:ext cx="193932" cy="94446"/>
          </a:xfrm>
          <a:prstGeom prst="bentConnector3">
            <a:avLst>
              <a:gd name="adj1" fmla="val -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矩形 93"/>
          <p:cNvSpPr/>
          <p:nvPr/>
        </p:nvSpPr>
        <p:spPr>
          <a:xfrm>
            <a:off x="3481471" y="1384142"/>
            <a:ext cx="944489" cy="2423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買家</a:t>
            </a:r>
            <a:r>
              <a:rPr lang="en-US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 LIFF </a:t>
            </a:r>
            <a:r>
              <a:rPr lang="zh-TW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頁</a:t>
            </a:r>
            <a:r>
              <a:rPr lang="zh-TW" altLang="en-US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面</a:t>
            </a:r>
            <a:endParaRPr lang="zh-TW" altLang="en-US" sz="1350" dirty="0"/>
          </a:p>
        </p:txBody>
      </p:sp>
      <p:pic>
        <p:nvPicPr>
          <p:cNvPr id="96" name="圖片 9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567" y="870645"/>
            <a:ext cx="845969" cy="263552"/>
          </a:xfrm>
          <a:prstGeom prst="rect">
            <a:avLst/>
          </a:prstGeom>
        </p:spPr>
      </p:pic>
      <p:pic>
        <p:nvPicPr>
          <p:cNvPr id="97" name="圖片 9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171" y="1540205"/>
            <a:ext cx="1087142" cy="232344"/>
          </a:xfrm>
          <a:prstGeom prst="rect">
            <a:avLst/>
          </a:prstGeom>
        </p:spPr>
      </p:pic>
      <p:pic>
        <p:nvPicPr>
          <p:cNvPr id="98" name="圖片 9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522" y="2275350"/>
            <a:ext cx="1184388" cy="256842"/>
          </a:xfrm>
          <a:prstGeom prst="rect">
            <a:avLst/>
          </a:prstGeom>
        </p:spPr>
      </p:pic>
      <p:pic>
        <p:nvPicPr>
          <p:cNvPr id="99" name="圖片 9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22" y="3016287"/>
            <a:ext cx="1280077" cy="230414"/>
          </a:xfrm>
          <a:prstGeom prst="rect">
            <a:avLst/>
          </a:prstGeom>
        </p:spPr>
      </p:pic>
      <p:pic>
        <p:nvPicPr>
          <p:cNvPr id="100" name="圖片 9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69828" y="179971"/>
            <a:ext cx="2523539" cy="1191672"/>
          </a:xfrm>
          <a:prstGeom prst="rect">
            <a:avLst/>
          </a:prstGeom>
        </p:spPr>
      </p:pic>
      <p:sp>
        <p:nvSpPr>
          <p:cNvPr id="2" name="文字方塊 1"/>
          <p:cNvSpPr txBox="1"/>
          <p:nvPr/>
        </p:nvSpPr>
        <p:spPr>
          <a:xfrm>
            <a:off x="1207311" y="1668866"/>
            <a:ext cx="198644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900" b="1" dirty="0"/>
              <a:t>刪除訂單</a:t>
            </a:r>
            <a:r>
              <a:rPr lang="en-US" altLang="zh-TW" sz="900" b="1" dirty="0">
                <a:solidFill>
                  <a:srgbClr val="FF0000"/>
                </a:solidFill>
              </a:rPr>
              <a:t>(</a:t>
            </a:r>
            <a:r>
              <a:rPr lang="zh-TW" altLang="en-US" sz="900" b="1" dirty="0">
                <a:solidFill>
                  <a:srgbClr val="FF0000"/>
                </a:solidFill>
              </a:rPr>
              <a:t>當管理員按結單後則無效</a:t>
            </a:r>
            <a:r>
              <a:rPr lang="en-US" altLang="zh-TW" sz="900" b="1" dirty="0">
                <a:solidFill>
                  <a:srgbClr val="FF0000"/>
                </a:solidFill>
              </a:rPr>
              <a:t>)</a:t>
            </a:r>
            <a:endParaRPr lang="zh-TW" altLang="en-US" sz="9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7542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950" b="8282"/>
          <a:stretch/>
        </p:blipFill>
        <p:spPr>
          <a:xfrm>
            <a:off x="140468" y="323528"/>
            <a:ext cx="2472358" cy="233975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53"/>
          <a:stretch/>
        </p:blipFill>
        <p:spPr>
          <a:xfrm>
            <a:off x="177205" y="3131840"/>
            <a:ext cx="2448272" cy="3491862"/>
          </a:xfrm>
          <a:prstGeom prst="rect">
            <a:avLst/>
          </a:prstGeom>
        </p:spPr>
      </p:pic>
      <p:grpSp>
        <p:nvGrpSpPr>
          <p:cNvPr id="11" name="群組 10"/>
          <p:cNvGrpSpPr/>
          <p:nvPr/>
        </p:nvGrpSpPr>
        <p:grpSpPr>
          <a:xfrm>
            <a:off x="2746952" y="3635896"/>
            <a:ext cx="3855086" cy="2381058"/>
            <a:chOff x="2755296" y="4210932"/>
            <a:chExt cx="3855086" cy="2381058"/>
          </a:xfrm>
        </p:grpSpPr>
        <p:sp>
          <p:nvSpPr>
            <p:cNvPr id="8" name="文字方塊 7"/>
            <p:cNvSpPr txBox="1"/>
            <p:nvPr/>
          </p:nvSpPr>
          <p:spPr>
            <a:xfrm>
              <a:off x="4390735" y="4283666"/>
              <a:ext cx="2219647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600" dirty="0" smtClean="0"/>
                <a:t>liff-admin-products.html</a:t>
              </a:r>
            </a:p>
            <a:p>
              <a:r>
                <a:rPr lang="en-US" altLang="zh-TW" sz="1600" dirty="0" smtClean="0"/>
                <a:t>liff-admin-orders.html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liff-admin-arrival.html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liff-admin-shipping.html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liff-admin-vedor.html</a:t>
              </a:r>
            </a:p>
            <a:p>
              <a:r>
                <a:rPr lang="en-US" altLang="zh-TW" sz="1600" dirty="0" smtClean="0"/>
                <a:t>liff-admin-settings.html</a:t>
              </a:r>
            </a:p>
            <a:p>
              <a:endParaRPr lang="en-US" altLang="zh-TW" sz="1600" dirty="0"/>
            </a:p>
            <a:p>
              <a:r>
                <a:rPr lang="en-US" altLang="zh-TW" sz="1600" dirty="0" smtClean="0"/>
                <a:t>liff-admin-dispatch.html</a:t>
              </a:r>
              <a:endParaRPr lang="en-US" altLang="zh-TW" sz="1600" dirty="0"/>
            </a:p>
            <a:p>
              <a:endParaRPr lang="zh-TW" altLang="en-US" sz="1600" dirty="0"/>
            </a:p>
          </p:txBody>
        </p:sp>
        <p:pic>
          <p:nvPicPr>
            <p:cNvPr id="9" name="圖片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5296" y="4210932"/>
              <a:ext cx="1635439" cy="1715129"/>
            </a:xfrm>
            <a:prstGeom prst="rect">
              <a:avLst/>
            </a:prstGeom>
          </p:spPr>
        </p:pic>
      </p:grpSp>
      <p:grpSp>
        <p:nvGrpSpPr>
          <p:cNvPr id="21" name="群組 20"/>
          <p:cNvGrpSpPr/>
          <p:nvPr/>
        </p:nvGrpSpPr>
        <p:grpSpPr>
          <a:xfrm>
            <a:off x="2791103" y="1533553"/>
            <a:ext cx="1518719" cy="1748728"/>
            <a:chOff x="2707654" y="868790"/>
            <a:chExt cx="1297410" cy="1689580"/>
          </a:xfrm>
        </p:grpSpPr>
        <p:pic>
          <p:nvPicPr>
            <p:cNvPr id="12" name="圖片 11"/>
            <p:cNvPicPr>
              <a:picLocks noChangeAspect="1"/>
            </p:cNvPicPr>
            <p:nvPr/>
          </p:nvPicPr>
          <p:blipFill rotWithShape="1">
            <a:blip r:embed="rId5"/>
            <a:srcRect l="49430" t="75336" r="6933" b="9285"/>
            <a:stretch/>
          </p:blipFill>
          <p:spPr>
            <a:xfrm>
              <a:off x="2770758" y="2198330"/>
              <a:ext cx="1080121" cy="360040"/>
            </a:xfrm>
            <a:prstGeom prst="rect">
              <a:avLst/>
            </a:prstGeom>
          </p:spPr>
        </p:pic>
        <p:pic>
          <p:nvPicPr>
            <p:cNvPr id="13" name="圖片 1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07654" y="868790"/>
              <a:ext cx="1225402" cy="359695"/>
            </a:xfrm>
            <a:prstGeom prst="rect">
              <a:avLst/>
            </a:prstGeom>
          </p:spPr>
        </p:pic>
        <p:pic>
          <p:nvPicPr>
            <p:cNvPr id="14" name="圖片 13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79662" y="1313556"/>
              <a:ext cx="1225402" cy="359695"/>
            </a:xfrm>
            <a:prstGeom prst="rect">
              <a:avLst/>
            </a:prstGeom>
          </p:spPr>
        </p:pic>
        <p:pic>
          <p:nvPicPr>
            <p:cNvPr id="15" name="圖片 14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12193" y="1758322"/>
              <a:ext cx="1085182" cy="359695"/>
            </a:xfrm>
            <a:prstGeom prst="rect">
              <a:avLst/>
            </a:prstGeom>
          </p:spPr>
        </p:pic>
      </p:grpSp>
      <p:sp>
        <p:nvSpPr>
          <p:cNvPr id="16" name="文字方塊 15"/>
          <p:cNvSpPr txBox="1"/>
          <p:nvPr/>
        </p:nvSpPr>
        <p:spPr>
          <a:xfrm>
            <a:off x="4255696" y="1533553"/>
            <a:ext cx="236763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Liff-order.html</a:t>
            </a:r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liff-buyer-order.html</a:t>
            </a:r>
            <a:endParaRPr lang="en-US" altLang="zh-TW" sz="1600" dirty="0"/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liff-overstock-buyer.html</a:t>
            </a:r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liff-admin-dashboard.html</a:t>
            </a:r>
            <a:endParaRPr lang="zh-TW" altLang="en-US" sz="1600" dirty="0"/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4132" y="5411118"/>
            <a:ext cx="1877731" cy="408467"/>
          </a:xfrm>
          <a:prstGeom prst="rect">
            <a:avLst/>
          </a:prstGeom>
        </p:spPr>
      </p:pic>
      <p:pic>
        <p:nvPicPr>
          <p:cNvPr id="19" name="圖片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4132" y="5676689"/>
            <a:ext cx="3371380" cy="438950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3430395" y="556851"/>
            <a:ext cx="23269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 smtClean="0"/>
              <a:t>liff-product-list.html</a:t>
            </a:r>
          </a:p>
          <a:p>
            <a:r>
              <a:rPr lang="en-US" altLang="zh-TW" dirty="0" smtClean="0"/>
              <a:t>liff-product-detail.html</a:t>
            </a:r>
            <a:endParaRPr lang="en-US" altLang="zh-TW" dirty="0"/>
          </a:p>
          <a:p>
            <a:endParaRPr lang="en-US" altLang="zh-TW" dirty="0"/>
          </a:p>
        </p:txBody>
      </p:sp>
      <p:cxnSp>
        <p:nvCxnSpPr>
          <p:cNvPr id="23" name="直線單箭頭接點 22"/>
          <p:cNvCxnSpPr/>
          <p:nvPr/>
        </p:nvCxnSpPr>
        <p:spPr>
          <a:xfrm flipV="1">
            <a:off x="4081092" y="1156823"/>
            <a:ext cx="144439" cy="5301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51008" y="556851"/>
            <a:ext cx="2744504" cy="5999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/>
          <p:cNvSpPr/>
          <p:nvPr/>
        </p:nvSpPr>
        <p:spPr>
          <a:xfrm>
            <a:off x="4255696" y="1501006"/>
            <a:ext cx="1350137" cy="4048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7" name="直線單箭頭接點 26"/>
          <p:cNvCxnSpPr>
            <a:endCxn id="25" idx="1"/>
          </p:cNvCxnSpPr>
          <p:nvPr/>
        </p:nvCxnSpPr>
        <p:spPr>
          <a:xfrm>
            <a:off x="4081092" y="1690874"/>
            <a:ext cx="174604" cy="125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428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5" y="3548150"/>
            <a:ext cx="1623223" cy="3126729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63"/>
            <a:ext cx="6858000" cy="1655956"/>
          </a:xfrm>
          <a:prstGeom prst="rect">
            <a:avLst/>
          </a:prstGeom>
        </p:spPr>
      </p:pic>
      <p:sp>
        <p:nvSpPr>
          <p:cNvPr id="11" name="矩形 10"/>
          <p:cNvSpPr/>
          <p:nvPr/>
        </p:nvSpPr>
        <p:spPr>
          <a:xfrm>
            <a:off x="692696" y="5580112"/>
            <a:ext cx="1008112" cy="1947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直線單箭頭接點 12"/>
          <p:cNvCxnSpPr>
            <a:endCxn id="11" idx="3"/>
          </p:cNvCxnSpPr>
          <p:nvPr/>
        </p:nvCxnSpPr>
        <p:spPr>
          <a:xfrm flipH="1" flipV="1">
            <a:off x="1700808" y="5677491"/>
            <a:ext cx="576064" cy="25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/>
          <p:cNvSpPr txBox="1"/>
          <p:nvPr/>
        </p:nvSpPr>
        <p:spPr>
          <a:xfrm>
            <a:off x="2216422" y="5513260"/>
            <a:ext cx="21371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b="1" dirty="0" smtClean="0">
                <a:solidFill>
                  <a:srgbClr val="FF0000"/>
                </a:solidFill>
              </a:rPr>
              <a:t>“</a:t>
            </a:r>
            <a:r>
              <a:rPr lang="zh-TW" altLang="en-US" sz="1400" b="1" dirty="0" smtClean="0">
                <a:solidFill>
                  <a:srgbClr val="FF0000"/>
                </a:solidFill>
              </a:rPr>
              <a:t>我要下單</a:t>
            </a:r>
            <a:r>
              <a:rPr lang="en-US" altLang="zh-TW" sz="1400" b="1" dirty="0" smtClean="0">
                <a:solidFill>
                  <a:srgbClr val="FF0000"/>
                </a:solidFill>
              </a:rPr>
              <a:t>”</a:t>
            </a:r>
            <a:r>
              <a:rPr lang="zh-TW" altLang="en-US" sz="1400" b="1" dirty="0" smtClean="0">
                <a:solidFill>
                  <a:srgbClr val="FF0000"/>
                </a:solidFill>
              </a:rPr>
              <a:t>下單完就出現</a:t>
            </a:r>
            <a:endParaRPr lang="en-US" altLang="zh-TW" sz="1400" b="1" dirty="0" smtClean="0">
              <a:solidFill>
                <a:srgbClr val="FF0000"/>
              </a:solidFill>
            </a:endParaRPr>
          </a:p>
          <a:p>
            <a:r>
              <a:rPr lang="zh-TW" altLang="en-US" sz="1400" b="1" dirty="0" smtClean="0">
                <a:solidFill>
                  <a:srgbClr val="FF0000"/>
                </a:solidFill>
              </a:rPr>
              <a:t>無法修改刪除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pic>
        <p:nvPicPr>
          <p:cNvPr id="20" name="圖片 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5" y="1750827"/>
            <a:ext cx="6858000" cy="1729315"/>
          </a:xfrm>
          <a:prstGeom prst="rect">
            <a:avLst/>
          </a:prstGeom>
        </p:spPr>
      </p:pic>
      <p:sp>
        <p:nvSpPr>
          <p:cNvPr id="21" name="矩形 20"/>
          <p:cNvSpPr/>
          <p:nvPr/>
        </p:nvSpPr>
        <p:spPr>
          <a:xfrm>
            <a:off x="-10752" y="1979712"/>
            <a:ext cx="4807903" cy="1440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 21"/>
          <p:cNvSpPr/>
          <p:nvPr/>
        </p:nvSpPr>
        <p:spPr>
          <a:xfrm>
            <a:off x="77585" y="249233"/>
            <a:ext cx="6087719" cy="1451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0132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1958</TotalTime>
  <Words>625</Words>
  <Application>Microsoft Office PowerPoint</Application>
  <PresentationFormat>如螢幕大小 (4:3)</PresentationFormat>
  <Paragraphs>64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3" baseType="lpstr">
      <vt:lpstr>新細明體</vt:lpstr>
      <vt:lpstr>Arial</vt:lpstr>
      <vt:lpstr>Calibri</vt:lpstr>
      <vt:lpstr>Segoe UI Symbol</vt:lpstr>
      <vt:lpstr>Times New Roman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郭大立</cp:lastModifiedBy>
  <cp:revision>53</cp:revision>
  <dcterms:created xsi:type="dcterms:W3CDTF">2026-01-28T11:46:01Z</dcterms:created>
  <dcterms:modified xsi:type="dcterms:W3CDTF">2026-03-11T14:20:50Z</dcterms:modified>
</cp:coreProperties>
</file>