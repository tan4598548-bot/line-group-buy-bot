
<file path=[Content_Types].xml><?xml version="1.0" encoding="utf-8"?>
<Types xmlns="http://schemas.openxmlformats.org/package/2006/content-types">
  <Default Extension="png" ContentType="image/png"/>
  <Default Extension="emf" ContentType="image/x-emf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6" r:id="rId2"/>
    <p:sldId id="267" r:id="rId3"/>
    <p:sldId id="257" r:id="rId4"/>
    <p:sldId id="271" r:id="rId5"/>
  </p:sldIdLst>
  <p:sldSz cx="6858000" cy="9144000" type="screen4x3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228" autoAdjust="0"/>
    <p:restoredTop sz="94660"/>
  </p:normalViewPr>
  <p:slideViewPr>
    <p:cSldViewPr>
      <p:cViewPr>
        <p:scale>
          <a:sx n="110" d="100"/>
          <a:sy n="110" d="100"/>
        </p:scale>
        <p:origin x="222" y="-56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514350" y="2840568"/>
            <a:ext cx="5829300" cy="196003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028700" y="5181600"/>
            <a:ext cx="4800600" cy="23368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2026/3/22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2026/3/22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41735" y="5875867"/>
            <a:ext cx="5829300" cy="1816100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541735" y="3875618"/>
            <a:ext cx="5829300" cy="2000249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2026/3/22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42900" y="2133601"/>
            <a:ext cx="3028950" cy="6034617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3486150" y="2133601"/>
            <a:ext cx="3028950" cy="6034617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2026/3/22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342900" y="2046817"/>
            <a:ext cx="3030141" cy="85301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342900" y="2899833"/>
            <a:ext cx="3030141" cy="526838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3483769" y="2046817"/>
            <a:ext cx="3031331" cy="85301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3483769" y="2899833"/>
            <a:ext cx="3031331" cy="526838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2026/3/22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2026/3/22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2026/3/22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42900" y="364067"/>
            <a:ext cx="2256235" cy="1549400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2681287" y="364067"/>
            <a:ext cx="3833813" cy="780415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342900" y="1913467"/>
            <a:ext cx="2256235" cy="6254751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2026/3/22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344216" y="6400800"/>
            <a:ext cx="4114800" cy="755651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344216" y="817033"/>
            <a:ext cx="4114800" cy="54864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344216" y="7156451"/>
            <a:ext cx="4114800" cy="1073149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2026/3/22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2026/3/22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4972050" y="366185"/>
            <a:ext cx="1543050" cy="7802033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42900" y="366185"/>
            <a:ext cx="4514850" cy="7802033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EAD13-0566-4C6C-97E7-55F17F24B09F}" type="datetimeFigureOut">
              <a:rPr lang="zh-TW" altLang="en-US" smtClean="0"/>
              <a:t>2026/3/22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342900" y="366184"/>
            <a:ext cx="6172200" cy="1524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342900" y="2133601"/>
            <a:ext cx="6172200" cy="60346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342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BEAD13-0566-4C6C-97E7-55F17F24B09F}" type="datetimeFigureOut">
              <a:rPr lang="zh-TW" altLang="en-US" smtClean="0"/>
              <a:t>2026/3/22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2343150" y="8475134"/>
            <a:ext cx="21717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4914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6858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175" indent="-257175" algn="l" defTabSz="6858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defTabSz="685800" rtl="0" eaLnBrk="1" latinLnBrk="0" hangingPunct="1">
        <a:spcBef>
          <a:spcPct val="20000"/>
        </a:spcBef>
        <a:buFont typeface="Arial" pitchFamily="34" charset="0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spcBef>
          <a:spcPct val="20000"/>
        </a:spcBef>
        <a:buFont typeface="Arial" pitchFamily="34" charset="0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spcBef>
          <a:spcPct val="20000"/>
        </a:spcBef>
        <a:buFont typeface="Arial" pitchFamily="34" charset="0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jp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="" xmlns:a16="http://schemas.microsoft.com/office/drawing/2014/main" id="{7FCD40F2-9077-1A99-8F71-7B84A1B2A76A}"/>
              </a:ext>
            </a:extLst>
          </p:cNvPr>
          <p:cNvSpPr txBox="1"/>
          <p:nvPr/>
        </p:nvSpPr>
        <p:spPr>
          <a:xfrm>
            <a:off x="1" y="179512"/>
            <a:ext cx="6858000" cy="87100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400" b="1" dirty="0"/>
              <a:t>團購網主要需求如下：</a:t>
            </a:r>
            <a:endParaRPr lang="en-US" altLang="zh-TW" sz="1400" b="1" dirty="0"/>
          </a:p>
          <a:p>
            <a:pPr marL="342900" indent="-342900">
              <a:buAutoNum type="arabicParenR"/>
            </a:pPr>
            <a:r>
              <a:rPr lang="zh-TW" altLang="en-US" sz="1400" b="1" dirty="0"/>
              <a:t>人數約</a:t>
            </a:r>
            <a:r>
              <a:rPr lang="en-US" altLang="zh-TW" sz="1400" b="1" dirty="0"/>
              <a:t>100</a:t>
            </a:r>
            <a:r>
              <a:rPr lang="zh-TW" altLang="en-US" sz="1400" b="1" dirty="0"/>
              <a:t>人</a:t>
            </a:r>
            <a:endParaRPr lang="en-US" altLang="zh-TW" sz="1400" b="1" dirty="0"/>
          </a:p>
          <a:p>
            <a:pPr marL="342900" indent="-342900">
              <a:buAutoNum type="arabicParenR"/>
            </a:pPr>
            <a:r>
              <a:rPr lang="zh-TW" altLang="en-US" sz="1400" b="1" dirty="0"/>
              <a:t>可視化手機操作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訂貨及管理操作</a:t>
            </a:r>
            <a:r>
              <a:rPr lang="en-US" altLang="zh-TW" sz="1400" b="1" dirty="0"/>
              <a:t>)</a:t>
            </a:r>
          </a:p>
          <a:p>
            <a:pPr marL="342900" indent="-342900">
              <a:buAutoNum type="arabicParenR"/>
            </a:pPr>
            <a:r>
              <a:rPr lang="zh-TW" altLang="en-US" sz="1400" b="1" dirty="0"/>
              <a:t>買家部份</a:t>
            </a:r>
            <a:r>
              <a:rPr lang="en-US" altLang="zh-TW" sz="1400" b="1" dirty="0"/>
              <a:t>: (</a:t>
            </a:r>
            <a:r>
              <a:rPr lang="zh-TW" altLang="en-US" sz="1400" b="1" dirty="0"/>
              <a:t>於</a:t>
            </a:r>
            <a:r>
              <a:rPr lang="en-US" altLang="zh-TW" sz="1400" b="1" dirty="0"/>
              <a:t>line</a:t>
            </a:r>
            <a:r>
              <a:rPr lang="zh-TW" altLang="en-US" sz="1400" b="1" dirty="0"/>
              <a:t>選單的</a:t>
            </a:r>
            <a:r>
              <a:rPr lang="en-US" altLang="zh-TW" sz="1400" b="1" dirty="0"/>
              <a:t>3</a:t>
            </a:r>
            <a:r>
              <a:rPr lang="zh-TW" altLang="en-US" sz="1400" b="1" dirty="0"/>
              <a:t>個入口頁面</a:t>
            </a:r>
            <a:r>
              <a:rPr lang="en-US" altLang="zh-TW" sz="1400" b="1" dirty="0"/>
              <a:t>)</a:t>
            </a:r>
          </a:p>
          <a:p>
            <a:r>
              <a:rPr lang="en-US" altLang="zh-TW" sz="1400" b="1" dirty="0"/>
              <a:t>        (a) </a:t>
            </a:r>
            <a:r>
              <a:rPr lang="zh-TW" altLang="en-US" sz="1400" b="1" dirty="0"/>
              <a:t>我要下單 </a:t>
            </a:r>
            <a:endParaRPr lang="en-US" altLang="zh-TW" sz="1400" b="1" dirty="0"/>
          </a:p>
          <a:p>
            <a:r>
              <a:rPr lang="en-US" altLang="zh-TW" sz="1400" b="1" dirty="0"/>
              <a:t>             </a:t>
            </a:r>
            <a:r>
              <a:rPr lang="zh-TW" altLang="en-US" sz="1400" b="1" dirty="0"/>
              <a:t>顯示商品清單縮圖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點選購買商品後進入詳細商品頁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下方放</a:t>
            </a:r>
            <a:r>
              <a:rPr lang="en-US" altLang="zh-TW" sz="1400" b="1" dirty="0"/>
              <a:t>”</a:t>
            </a:r>
            <a:r>
              <a:rPr lang="zh-TW" altLang="en-US" sz="1400" b="1" dirty="0"/>
              <a:t>購買按鈕</a:t>
            </a:r>
            <a:r>
              <a:rPr lang="en-US" altLang="zh-TW" sz="1400" b="1" dirty="0"/>
              <a:t>”</a:t>
            </a:r>
          </a:p>
          <a:p>
            <a:r>
              <a:rPr lang="en-US" altLang="zh-TW" sz="1400" b="1" dirty="0"/>
              <a:t>        (b) </a:t>
            </a:r>
            <a:r>
              <a:rPr lang="zh-TW" altLang="en-US" sz="1400" b="1" dirty="0"/>
              <a:t>我的訂單</a:t>
            </a:r>
            <a:r>
              <a:rPr lang="en-US" altLang="zh-TW" sz="1400" b="1" dirty="0"/>
              <a:t>/</a:t>
            </a:r>
          </a:p>
          <a:p>
            <a:r>
              <a:rPr lang="en-US" altLang="zh-TW" sz="1400" b="1" dirty="0"/>
              <a:t>         </a:t>
            </a:r>
            <a:r>
              <a:rPr lang="zh-TW" altLang="en-US" sz="1400" b="1" dirty="0"/>
              <a:t>查詢</a:t>
            </a:r>
            <a:r>
              <a:rPr lang="en-US" altLang="zh-TW" sz="1400" b="1" dirty="0"/>
              <a:t>: </a:t>
            </a:r>
            <a:r>
              <a:rPr lang="zh-TW" altLang="en-US" sz="1400" b="1" dirty="0"/>
              <a:t>顯示查詢買家個人已訂未到貨列表</a:t>
            </a:r>
            <a:endParaRPr lang="en-US" altLang="zh-TW" sz="1400" b="1" dirty="0"/>
          </a:p>
          <a:p>
            <a:r>
              <a:rPr lang="zh-TW" altLang="en-US" sz="1400" b="1" dirty="0"/>
              <a:t>         修改</a:t>
            </a:r>
            <a:r>
              <a:rPr lang="en-US" altLang="zh-TW" sz="1400" b="1" dirty="0"/>
              <a:t>:</a:t>
            </a:r>
            <a:r>
              <a:rPr lang="zh-TW" altLang="en-US" sz="1400" b="1" dirty="0"/>
              <a:t>管理者未結單時都可刪除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重訂</a:t>
            </a:r>
            <a:r>
              <a:rPr lang="en-US" altLang="zh-TW" sz="1400" b="1" dirty="0"/>
              <a:t>)</a:t>
            </a:r>
            <a:r>
              <a:rPr lang="zh-TW" altLang="en-US" sz="1400" b="1" dirty="0"/>
              <a:t>訂單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結單後不可修改</a:t>
            </a:r>
            <a:r>
              <a:rPr lang="en-US" altLang="zh-TW" sz="1400" b="1" dirty="0">
                <a:sym typeface="Wingdings" panose="05000000000000000000" pitchFamily="2" charset="2"/>
              </a:rPr>
              <a:t></a:t>
            </a:r>
            <a:r>
              <a:rPr lang="zh-TW" altLang="en-US" sz="1400" b="1" dirty="0">
                <a:sym typeface="Wingdings" panose="05000000000000000000" pitchFamily="2" charset="2"/>
              </a:rPr>
              <a:t>列入已訂未到貨清單</a:t>
            </a:r>
            <a:r>
              <a:rPr lang="en-US" altLang="zh-TW" sz="1400" b="1" dirty="0">
                <a:sym typeface="Wingdings" panose="05000000000000000000" pitchFamily="2" charset="2"/>
              </a:rPr>
              <a:t>)</a:t>
            </a:r>
          </a:p>
          <a:p>
            <a:r>
              <a:rPr lang="en-US" altLang="zh-TW" sz="1400" b="1" dirty="0">
                <a:sym typeface="Wingdings" panose="05000000000000000000" pitchFamily="2" charset="2"/>
              </a:rPr>
              <a:t>        (c) </a:t>
            </a:r>
            <a:r>
              <a:rPr lang="zh-TW" altLang="en-US" sz="1400" b="1" dirty="0">
                <a:sym typeface="Wingdings" panose="05000000000000000000" pitchFamily="2" charset="2"/>
              </a:rPr>
              <a:t>現貨出清</a:t>
            </a:r>
            <a:endParaRPr lang="en-US" altLang="zh-TW" sz="1400" b="1" dirty="0">
              <a:sym typeface="Wingdings" panose="05000000000000000000" pitchFamily="2" charset="2"/>
            </a:endParaRPr>
          </a:p>
          <a:p>
            <a:r>
              <a:rPr lang="en-US" altLang="zh-TW" sz="1400" b="1" dirty="0"/>
              <a:t>              </a:t>
            </a:r>
            <a:r>
              <a:rPr lang="zh-TW" altLang="en-US" sz="1400" b="1" dirty="0"/>
              <a:t>搶購溢多現貨商品</a:t>
            </a:r>
            <a:endParaRPr lang="en-US" altLang="zh-TW" sz="1400" b="1" dirty="0"/>
          </a:p>
          <a:p>
            <a:r>
              <a:rPr lang="en-US" altLang="zh-TW" sz="1400" b="1" dirty="0"/>
              <a:t>4)    </a:t>
            </a:r>
            <a:r>
              <a:rPr lang="zh-TW" altLang="en-US" sz="1400" b="1" dirty="0"/>
              <a:t>團主管理部份</a:t>
            </a:r>
            <a:r>
              <a:rPr lang="en-US" altLang="zh-TW" sz="1400" b="1" dirty="0"/>
              <a:t>:(</a:t>
            </a:r>
            <a:r>
              <a:rPr lang="zh-TW" altLang="en-US" sz="1400" b="1" dirty="0"/>
              <a:t>於</a:t>
            </a:r>
            <a:r>
              <a:rPr lang="en-US" altLang="zh-TW" sz="1400" b="1" dirty="0"/>
              <a:t>line</a:t>
            </a:r>
            <a:r>
              <a:rPr lang="zh-TW" altLang="en-US" sz="1400" b="1" dirty="0"/>
              <a:t>選單第</a:t>
            </a:r>
            <a:r>
              <a:rPr lang="en-US" altLang="zh-TW" sz="1400" b="1" dirty="0"/>
              <a:t>4</a:t>
            </a:r>
            <a:r>
              <a:rPr lang="zh-TW" altLang="en-US" sz="1400" b="1" dirty="0"/>
              <a:t>個入口頁面</a:t>
            </a:r>
            <a:r>
              <a:rPr lang="en-US" altLang="zh-TW" sz="1400" b="1" dirty="0"/>
              <a:t>)</a:t>
            </a:r>
          </a:p>
          <a:p>
            <a:r>
              <a:rPr lang="en-US" altLang="zh-TW" sz="1400" b="1" dirty="0"/>
              <a:t>        (a) </a:t>
            </a:r>
            <a:r>
              <a:rPr lang="zh-TW" altLang="en-US" sz="1400" b="1" dirty="0"/>
              <a:t>商品管理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上架</a:t>
            </a:r>
            <a:r>
              <a:rPr lang="en-US" altLang="zh-TW" sz="1400" b="1" dirty="0"/>
              <a:t>)</a:t>
            </a:r>
          </a:p>
          <a:p>
            <a:r>
              <a:rPr lang="en-US" altLang="zh-TW" sz="1400" b="1" dirty="0"/>
              <a:t>               1. </a:t>
            </a:r>
            <a:r>
              <a:rPr lang="zh-TW" altLang="en-US" sz="1400" b="1" dirty="0"/>
              <a:t>新商品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含訂價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數量</a:t>
            </a:r>
            <a:r>
              <a:rPr lang="en-US" altLang="zh-TW" sz="1400" b="1" dirty="0"/>
              <a:t>…</a:t>
            </a:r>
            <a:r>
              <a:rPr lang="zh-TW" altLang="en-US" sz="1400" b="1" dirty="0"/>
              <a:t>各商品結單日</a:t>
            </a:r>
            <a:r>
              <a:rPr lang="en-US" altLang="zh-TW" sz="1400" b="1" dirty="0"/>
              <a:t>)</a:t>
            </a:r>
          </a:p>
          <a:p>
            <a:r>
              <a:rPr lang="en-US" altLang="zh-TW" sz="1400" b="1" dirty="0"/>
              <a:t>                    </a:t>
            </a:r>
            <a:r>
              <a:rPr lang="zh-TW" altLang="en-US" sz="1400" b="1" dirty="0"/>
              <a:t>於結單日前</a:t>
            </a:r>
            <a:r>
              <a:rPr lang="en-US" altLang="zh-TW" sz="1400" b="1" dirty="0"/>
              <a:t>1</a:t>
            </a:r>
            <a:r>
              <a:rPr lang="zh-TW" altLang="en-US" sz="1400" b="1" dirty="0"/>
              <a:t>天主動推播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商品即將結單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要訂的請儘快下訂</a:t>
            </a:r>
            <a:r>
              <a:rPr lang="en-US" altLang="zh-TW" sz="1400" b="1" dirty="0"/>
              <a:t>……)</a:t>
            </a:r>
          </a:p>
          <a:p>
            <a:r>
              <a:rPr lang="en-US" altLang="zh-TW" sz="1400" b="1" dirty="0"/>
              <a:t>               2. </a:t>
            </a:r>
            <a:r>
              <a:rPr lang="zh-TW" altLang="en-US" sz="1400" b="1" dirty="0"/>
              <a:t>現貨商品 </a:t>
            </a:r>
            <a:endParaRPr lang="en-US" altLang="zh-TW" sz="1400" b="1" dirty="0"/>
          </a:p>
          <a:p>
            <a:r>
              <a:rPr lang="zh-TW" altLang="en-US" sz="1400" b="1" dirty="0"/>
              <a:t>                    防止同時下單機制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先下單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先壓按鈕</a:t>
            </a:r>
            <a:r>
              <a:rPr lang="en-US" altLang="zh-TW" sz="1400" b="1" dirty="0"/>
              <a:t>)</a:t>
            </a:r>
            <a:r>
              <a:rPr lang="zh-TW" altLang="en-US" sz="1400" b="1" dirty="0"/>
              <a:t>者就刪除該筆商品</a:t>
            </a:r>
            <a:r>
              <a:rPr lang="en-US" altLang="zh-TW" sz="1400" b="1" dirty="0"/>
              <a:t> </a:t>
            </a:r>
          </a:p>
          <a:p>
            <a:r>
              <a:rPr lang="en-US" altLang="zh-TW" sz="1400" b="1" dirty="0"/>
              <a:t>                    </a:t>
            </a:r>
            <a:r>
              <a:rPr lang="zh-TW" altLang="en-US" sz="1400" b="1" dirty="0"/>
              <a:t>搶購成功時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主動推播該團友已訂</a:t>
            </a:r>
            <a:r>
              <a:rPr lang="en-US" altLang="zh-TW" sz="1400" b="1" dirty="0"/>
              <a:t>……..</a:t>
            </a:r>
          </a:p>
          <a:p>
            <a:r>
              <a:rPr lang="en-US" altLang="zh-TW" sz="1400" b="1" dirty="0"/>
              <a:t>        (b) </a:t>
            </a:r>
            <a:r>
              <a:rPr lang="zh-TW" altLang="en-US" sz="1400" b="1" dirty="0"/>
              <a:t>訂單</a:t>
            </a:r>
            <a:r>
              <a:rPr lang="en-US" altLang="zh-TW" sz="1400" b="1" dirty="0"/>
              <a:t>/</a:t>
            </a:r>
            <a:r>
              <a:rPr lang="zh-TW" altLang="en-US" sz="1400" b="1" dirty="0"/>
              <a:t>查詢</a:t>
            </a:r>
            <a:endParaRPr lang="en-US" altLang="zh-TW" sz="1400" b="1" dirty="0"/>
          </a:p>
          <a:p>
            <a:r>
              <a:rPr lang="en-US" altLang="zh-TW" sz="1400" b="1" dirty="0"/>
              <a:t>                 </a:t>
            </a:r>
            <a:r>
              <a:rPr lang="zh-TW" altLang="en-US" sz="1400" b="1" dirty="0"/>
              <a:t>訂單</a:t>
            </a:r>
            <a:r>
              <a:rPr lang="en-US" altLang="zh-TW" sz="1400" b="1" dirty="0"/>
              <a:t>:</a:t>
            </a:r>
          </a:p>
          <a:p>
            <a:r>
              <a:rPr lang="zh-TW" altLang="en-US" sz="1400" b="1" dirty="0"/>
              <a:t>                </a:t>
            </a:r>
            <a:r>
              <a:rPr lang="en-US" altLang="zh-TW" sz="1400" b="1" dirty="0"/>
              <a:t>1. </a:t>
            </a:r>
            <a:r>
              <a:rPr lang="zh-TW" altLang="en-US" sz="1400" b="1" dirty="0"/>
              <a:t>結單</a:t>
            </a:r>
            <a:r>
              <a:rPr lang="en-US" altLang="zh-TW" sz="1400" b="1" dirty="0"/>
              <a:t>: </a:t>
            </a:r>
            <a:r>
              <a:rPr lang="zh-TW" altLang="en-US" sz="1400" b="1" dirty="0"/>
              <a:t>列出目前已過結單日的商品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一鍵結單後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該商品不能再讓買家訂購</a:t>
            </a:r>
            <a:endParaRPr lang="en-US" altLang="zh-TW" sz="1400" b="1" dirty="0"/>
          </a:p>
          <a:p>
            <a:r>
              <a:rPr lang="en-US" altLang="zh-TW" sz="1400" b="1" dirty="0"/>
              <a:t>                                (</a:t>
            </a:r>
            <a:r>
              <a:rPr lang="zh-TW" altLang="en-US" sz="1400" b="1" dirty="0"/>
              <a:t>通常商品結單日不等於團主要結單的日期</a:t>
            </a:r>
            <a:r>
              <a:rPr lang="en-US" altLang="zh-TW" sz="1400" b="1" dirty="0"/>
              <a:t>)</a:t>
            </a:r>
          </a:p>
          <a:p>
            <a:r>
              <a:rPr lang="en-US" altLang="zh-TW" sz="1400" b="1" dirty="0"/>
              <a:t>                2. </a:t>
            </a:r>
            <a:r>
              <a:rPr lang="zh-TW" altLang="en-US" sz="1400" b="1" dirty="0"/>
              <a:t>斷貨商品</a:t>
            </a:r>
            <a:r>
              <a:rPr lang="en-US" altLang="zh-TW" sz="1400" b="1" dirty="0"/>
              <a:t>:</a:t>
            </a:r>
            <a:r>
              <a:rPr lang="zh-TW" altLang="en-US" sz="1400" b="1" dirty="0"/>
              <a:t> 列出已訂未到貨商品供點選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點選後刪除該商品記錄</a:t>
            </a:r>
            <a:endParaRPr lang="en-US" altLang="zh-TW" sz="1400" b="1" dirty="0"/>
          </a:p>
          <a:p>
            <a:r>
              <a:rPr lang="en-US" altLang="zh-TW" sz="1400" b="1" dirty="0"/>
              <a:t>                                         </a:t>
            </a:r>
            <a:r>
              <a:rPr lang="zh-TW" altLang="en-US" sz="1400" b="1" dirty="0"/>
              <a:t>主動通知該已訂商品買家</a:t>
            </a:r>
            <a:r>
              <a:rPr lang="en-US" altLang="zh-TW" sz="1400" b="1" dirty="0"/>
              <a:t>,(</a:t>
            </a:r>
            <a:r>
              <a:rPr lang="zh-TW" altLang="en-US" sz="1400" b="1" dirty="0"/>
              <a:t>此商品已斷貨</a:t>
            </a:r>
            <a:r>
              <a:rPr lang="en-US" altLang="zh-TW" sz="1400" b="1" dirty="0"/>
              <a:t>…)</a:t>
            </a:r>
          </a:p>
          <a:p>
            <a:r>
              <a:rPr lang="en-US" altLang="zh-TW" sz="1400" b="1" dirty="0"/>
              <a:t>                 </a:t>
            </a:r>
            <a:r>
              <a:rPr lang="zh-TW" altLang="en-US" sz="1400" b="1" dirty="0"/>
              <a:t>查詢</a:t>
            </a:r>
            <a:r>
              <a:rPr lang="en-US" altLang="zh-TW" sz="1400" b="1" dirty="0"/>
              <a:t>:</a:t>
            </a:r>
          </a:p>
          <a:p>
            <a:r>
              <a:rPr lang="en-US" altLang="zh-TW" sz="1400" b="1" dirty="0"/>
              <a:t>                1. </a:t>
            </a:r>
            <a:r>
              <a:rPr lang="zh-TW" altLang="en-US" sz="1400" b="1" dirty="0"/>
              <a:t>查詢買家訂購資訊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可依人名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商品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查詢</a:t>
            </a:r>
            <a:r>
              <a:rPr lang="en-US" altLang="zh-TW" sz="1400" b="1" dirty="0"/>
              <a:t>)</a:t>
            </a:r>
          </a:p>
          <a:p>
            <a:r>
              <a:rPr lang="en-US" altLang="zh-TW" sz="1400" b="1" dirty="0"/>
              <a:t>                2. </a:t>
            </a:r>
            <a:r>
              <a:rPr lang="zh-TW" altLang="en-US" sz="1400" b="1" dirty="0"/>
              <a:t>查詢已訂未到貨資訊</a:t>
            </a:r>
            <a:endParaRPr lang="en-US" altLang="zh-TW" sz="1400" b="1" dirty="0"/>
          </a:p>
          <a:p>
            <a:r>
              <a:rPr lang="en-US" altLang="zh-TW" sz="1400" b="1" dirty="0"/>
              <a:t>                3. </a:t>
            </a:r>
            <a:r>
              <a:rPr lang="zh-TW" altLang="en-US" sz="1400" b="1" dirty="0"/>
              <a:t>修改上架商品及未結單商品</a:t>
            </a:r>
            <a:endParaRPr lang="en-US" altLang="zh-TW" sz="1400" b="1" dirty="0"/>
          </a:p>
          <a:p>
            <a:r>
              <a:rPr lang="en-US" altLang="zh-TW" sz="1400" b="1" dirty="0"/>
              <a:t>           (c) </a:t>
            </a:r>
            <a:r>
              <a:rPr lang="zh-TW" altLang="en-US" sz="1400" b="1" dirty="0"/>
              <a:t>到貨點貨</a:t>
            </a:r>
            <a:endParaRPr lang="en-US" altLang="zh-TW" sz="1400" b="1" dirty="0"/>
          </a:p>
          <a:p>
            <a:r>
              <a:rPr lang="en-US" altLang="zh-TW" sz="1400" b="1" dirty="0"/>
              <a:t>              1.</a:t>
            </a:r>
            <a:r>
              <a:rPr lang="zh-TW" altLang="en-US" sz="1400" b="1" dirty="0"/>
              <a:t>列出已訂未到貨商品供點選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含數量</a:t>
            </a:r>
            <a:r>
              <a:rPr lang="en-US" altLang="zh-TW" sz="1400" b="1" dirty="0"/>
              <a:t>,</a:t>
            </a:r>
            <a:r>
              <a:rPr lang="zh-TW" altLang="en-US" sz="1400" b="1" dirty="0"/>
              <a:t>尺寸顏色資訊</a:t>
            </a:r>
            <a:r>
              <a:rPr lang="en-US" altLang="zh-TW" sz="1400" b="1" dirty="0"/>
              <a:t>),</a:t>
            </a:r>
            <a:r>
              <a:rPr lang="zh-TW" altLang="zh-TW" sz="1400" b="1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可逐項勾選完成</a:t>
            </a:r>
            <a:endParaRPr lang="zh-TW" altLang="zh-TW" sz="1400" kern="100" dirty="0">
              <a:effectLst/>
              <a:latin typeface="Calibri" panose="020F050202020403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r>
              <a:rPr lang="en-US" altLang="zh-TW" sz="1400" b="1" dirty="0"/>
              <a:t>              2.</a:t>
            </a:r>
            <a:r>
              <a:rPr lang="zh-TW" altLang="en-US" sz="1400" b="1" dirty="0"/>
              <a:t>完成到貨商品清點後一鍵清除</a:t>
            </a:r>
            <a:r>
              <a:rPr lang="en-US" altLang="zh-TW" sz="1400" b="1" dirty="0"/>
              <a:t>(</a:t>
            </a:r>
            <a:r>
              <a:rPr lang="zh-TW" altLang="en-US" sz="1400" b="1" dirty="0"/>
              <a:t>不再顯示在商品清單</a:t>
            </a:r>
            <a:r>
              <a:rPr lang="en-US" altLang="zh-TW" sz="1400" b="1" dirty="0"/>
              <a:t>)</a:t>
            </a:r>
          </a:p>
          <a:p>
            <a:r>
              <a:rPr lang="en-US" altLang="zh-TW" sz="1400" b="1" dirty="0"/>
              <a:t>           (d) </a:t>
            </a:r>
            <a:r>
              <a:rPr lang="zh-TW" altLang="en-US" sz="1400" b="1" dirty="0"/>
              <a:t>發貨</a:t>
            </a:r>
            <a:r>
              <a:rPr lang="en-US" altLang="zh-TW" sz="1400" b="1" dirty="0"/>
              <a:t> (</a:t>
            </a:r>
            <a:r>
              <a:rPr lang="zh-TW" altLang="en-US" sz="1400" b="1" dirty="0"/>
              <a:t>列印想要的</a:t>
            </a:r>
            <a:r>
              <a:rPr lang="en-US" altLang="zh-TW" sz="1400" b="1" dirty="0"/>
              <a:t>PDF</a:t>
            </a:r>
            <a:r>
              <a:rPr lang="zh-TW" altLang="en-US" sz="1400" b="1" dirty="0"/>
              <a:t>小紙張</a:t>
            </a:r>
            <a:r>
              <a:rPr lang="en-US" altLang="zh-TW" sz="1400" b="1" dirty="0"/>
              <a:t>)</a:t>
            </a:r>
          </a:p>
          <a:p>
            <a:r>
              <a:rPr lang="en-US" altLang="zh-TW" sz="1400" b="1" dirty="0"/>
              <a:t>              </a:t>
            </a:r>
            <a:r>
              <a:rPr lang="zh-TW" altLang="en-US" sz="1400" b="1" dirty="0"/>
              <a:t> </a:t>
            </a:r>
            <a:r>
              <a:rPr lang="en-US" altLang="zh-TW" sz="1400" b="1" dirty="0"/>
              <a:t>1. </a:t>
            </a:r>
            <a:r>
              <a:rPr lang="zh-TW" altLang="en-US" sz="1400" b="1" dirty="0"/>
              <a:t>勾選要發貨的訂單</a:t>
            </a:r>
            <a:endParaRPr lang="en-US" altLang="zh-TW" sz="1400" b="1" dirty="0"/>
          </a:p>
          <a:p>
            <a:r>
              <a:rPr lang="en-US" altLang="zh-TW" sz="1400" b="1" dirty="0">
                <a:sym typeface="Wingdings" panose="05000000000000000000" pitchFamily="2" charset="2"/>
              </a:rPr>
              <a:t>               2. </a:t>
            </a:r>
            <a:r>
              <a:rPr lang="zh-TW" altLang="en-US" sz="1400" b="1" dirty="0">
                <a:sym typeface="Wingdings" panose="05000000000000000000" pitchFamily="2" charset="2"/>
              </a:rPr>
              <a:t>每個買家一小張 </a:t>
            </a:r>
            <a:r>
              <a:rPr lang="en-US" altLang="zh-TW" sz="1400" b="1" dirty="0">
                <a:sym typeface="Wingdings" panose="05000000000000000000" pitchFamily="2" charset="2"/>
              </a:rPr>
              <a:t>,</a:t>
            </a:r>
            <a:r>
              <a:rPr lang="zh-TW" altLang="en-US" sz="1400" b="1" dirty="0">
                <a:sym typeface="Wingdings" panose="05000000000000000000" pitchFamily="2" charset="2"/>
              </a:rPr>
              <a:t>內容</a:t>
            </a:r>
            <a:r>
              <a:rPr lang="en-US" altLang="zh-TW" sz="1400" b="1" dirty="0">
                <a:sym typeface="Wingdings" panose="05000000000000000000" pitchFamily="2" charset="2"/>
              </a:rPr>
              <a:t>:</a:t>
            </a:r>
            <a:r>
              <a:rPr lang="zh-TW" altLang="en-US" sz="1400" b="1" dirty="0">
                <a:sym typeface="Wingdings" panose="05000000000000000000" pitchFamily="2" charset="2"/>
              </a:rPr>
              <a:t>商品</a:t>
            </a:r>
            <a:r>
              <a:rPr lang="en-US" altLang="zh-TW" sz="1400" b="1" dirty="0">
                <a:sym typeface="Wingdings" panose="05000000000000000000" pitchFamily="2" charset="2"/>
              </a:rPr>
              <a:t>/</a:t>
            </a:r>
            <a:r>
              <a:rPr lang="zh-TW" altLang="en-US" sz="1400" b="1" dirty="0">
                <a:sym typeface="Wingdings" panose="05000000000000000000" pitchFamily="2" charset="2"/>
              </a:rPr>
              <a:t>規格</a:t>
            </a:r>
            <a:r>
              <a:rPr lang="en-US" altLang="zh-TW" sz="1400" b="1" dirty="0">
                <a:sym typeface="Wingdings" panose="05000000000000000000" pitchFamily="2" charset="2"/>
              </a:rPr>
              <a:t>/</a:t>
            </a:r>
            <a:r>
              <a:rPr lang="zh-TW" altLang="en-US" sz="1400" b="1" dirty="0">
                <a:sym typeface="Wingdings" panose="05000000000000000000" pitchFamily="2" charset="2"/>
              </a:rPr>
              <a:t>數量</a:t>
            </a:r>
            <a:r>
              <a:rPr lang="en-US" altLang="zh-TW" sz="1400" b="1" dirty="0">
                <a:sym typeface="Wingdings" panose="05000000000000000000" pitchFamily="2" charset="2"/>
              </a:rPr>
              <a:t>/</a:t>
            </a:r>
            <a:r>
              <a:rPr lang="zh-TW" altLang="en-US" sz="1400" b="1" dirty="0">
                <a:sym typeface="Wingdings" panose="05000000000000000000" pitchFamily="2" charset="2"/>
              </a:rPr>
              <a:t>價格小計</a:t>
            </a:r>
            <a:r>
              <a:rPr lang="en-US" altLang="zh-TW" sz="1400" b="1" dirty="0">
                <a:sym typeface="Wingdings" panose="05000000000000000000" pitchFamily="2" charset="2"/>
              </a:rPr>
              <a:t>(</a:t>
            </a:r>
            <a:r>
              <a:rPr lang="zh-TW" altLang="en-US" sz="1400" b="1" dirty="0">
                <a:sym typeface="Wingdings" panose="05000000000000000000" pitchFamily="2" charset="2"/>
              </a:rPr>
              <a:t>超過</a:t>
            </a:r>
            <a:r>
              <a:rPr lang="en-US" altLang="zh-TW" sz="1400" b="1" dirty="0">
                <a:sym typeface="Wingdings" panose="05000000000000000000" pitchFamily="2" charset="2"/>
              </a:rPr>
              <a:t>2</a:t>
            </a:r>
            <a:r>
              <a:rPr lang="zh-TW" altLang="en-US" sz="1400" b="1" dirty="0">
                <a:sym typeface="Wingdings" panose="05000000000000000000" pitchFamily="2" charset="2"/>
              </a:rPr>
              <a:t>張時</a:t>
            </a:r>
            <a:r>
              <a:rPr lang="en-US" altLang="zh-TW" sz="1400" b="1" dirty="0">
                <a:sym typeface="Wingdings" panose="05000000000000000000" pitchFamily="2" charset="2"/>
              </a:rPr>
              <a:t>)</a:t>
            </a:r>
            <a:r>
              <a:rPr lang="zh-TW" altLang="en-US" sz="1400" b="1" dirty="0">
                <a:sym typeface="Wingdings" panose="05000000000000000000" pitchFamily="2" charset="2"/>
              </a:rPr>
              <a:t>或總計</a:t>
            </a:r>
            <a:endParaRPr lang="en-US" altLang="zh-TW" sz="1400" b="1" dirty="0">
              <a:sym typeface="Wingdings" panose="05000000000000000000" pitchFamily="2" charset="2"/>
            </a:endParaRPr>
          </a:p>
          <a:p>
            <a:r>
              <a:rPr lang="en-US" altLang="zh-TW" sz="1400" b="1" dirty="0">
                <a:sym typeface="Wingdings" panose="05000000000000000000" pitchFamily="2" charset="2"/>
              </a:rPr>
              <a:t>         (e) </a:t>
            </a:r>
            <a:r>
              <a:rPr lang="zh-TW" altLang="en-US" sz="1400" b="1" dirty="0">
                <a:sym typeface="Wingdings" panose="05000000000000000000" pitchFamily="2" charset="2"/>
              </a:rPr>
              <a:t>廠商管理</a:t>
            </a:r>
            <a:endParaRPr lang="en-US" altLang="zh-TW" sz="1400" b="1" dirty="0">
              <a:sym typeface="Wingdings" panose="05000000000000000000" pitchFamily="2" charset="2"/>
            </a:endParaRPr>
          </a:p>
          <a:p>
            <a:r>
              <a:rPr lang="en-US" altLang="zh-TW" sz="1400" b="1" dirty="0">
                <a:sym typeface="Wingdings" panose="05000000000000000000" pitchFamily="2" charset="2"/>
              </a:rPr>
              <a:t>              1.</a:t>
            </a:r>
            <a:r>
              <a:rPr lang="zh-TW" altLang="en-US" sz="1400" b="1" dirty="0">
                <a:sym typeface="Wingdings" panose="05000000000000000000" pitchFamily="2" charset="2"/>
              </a:rPr>
              <a:t>輸入上架商品成本及實際訂購數量</a:t>
            </a:r>
            <a:endParaRPr lang="en-US" altLang="zh-TW" sz="1400" b="1" dirty="0">
              <a:sym typeface="Wingdings" panose="05000000000000000000" pitchFamily="2" charset="2"/>
            </a:endParaRPr>
          </a:p>
          <a:p>
            <a:r>
              <a:rPr lang="en-US" altLang="zh-TW" sz="1400" b="1" dirty="0">
                <a:sym typeface="Wingdings" panose="05000000000000000000" pitchFamily="2" charset="2"/>
              </a:rPr>
              <a:t>              2.</a:t>
            </a:r>
            <a:r>
              <a:rPr lang="zh-TW" altLang="en-US" sz="1400" b="1" dirty="0">
                <a:sym typeface="Wingdings" panose="05000000000000000000" pitchFamily="2" charset="2"/>
              </a:rPr>
              <a:t>查詢已訂未到貨商品列表</a:t>
            </a:r>
            <a:endParaRPr lang="en-US" altLang="zh-TW" sz="1400" b="1" dirty="0">
              <a:sym typeface="Wingdings" panose="05000000000000000000" pitchFamily="2" charset="2"/>
            </a:endParaRPr>
          </a:p>
          <a:p>
            <a:r>
              <a:rPr lang="zh-TW" altLang="en-US" sz="1400" b="1" dirty="0">
                <a:sym typeface="Wingdings" panose="05000000000000000000" pitchFamily="2" charset="2"/>
              </a:rPr>
              <a:t>              </a:t>
            </a:r>
            <a:r>
              <a:rPr lang="en-US" altLang="zh-TW" sz="1400" b="1" dirty="0">
                <a:sym typeface="Wingdings" panose="05000000000000000000" pitchFamily="2" charset="2"/>
              </a:rPr>
              <a:t>3. </a:t>
            </a:r>
            <a:r>
              <a:rPr lang="zh-TW" altLang="en-US" sz="1400" b="1" dirty="0">
                <a:sym typeface="Wingdings" panose="05000000000000000000" pitchFamily="2" charset="2"/>
              </a:rPr>
              <a:t>列出</a:t>
            </a:r>
            <a:r>
              <a:rPr lang="en-US" altLang="zh-TW" sz="1400" b="1" dirty="0">
                <a:sym typeface="Wingdings" panose="05000000000000000000" pitchFamily="2" charset="2"/>
              </a:rPr>
              <a:t>PDF </a:t>
            </a:r>
            <a:r>
              <a:rPr lang="zh-TW" altLang="en-US" sz="1400" b="1" dirty="0">
                <a:sym typeface="Wingdings" panose="05000000000000000000" pitchFamily="2" charset="2"/>
              </a:rPr>
              <a:t>已結單商品</a:t>
            </a:r>
            <a:r>
              <a:rPr lang="en-US" altLang="zh-TW" sz="1400" b="1" dirty="0">
                <a:sym typeface="Wingdings" panose="05000000000000000000" pitchFamily="2" charset="2"/>
              </a:rPr>
              <a:t>(</a:t>
            </a:r>
            <a:r>
              <a:rPr lang="zh-TW" altLang="en-US" sz="1400" b="1" dirty="0">
                <a:sym typeface="Wingdings" panose="05000000000000000000" pitchFamily="2" charset="2"/>
              </a:rPr>
              <a:t>價錢</a:t>
            </a:r>
            <a:r>
              <a:rPr lang="en-US" altLang="zh-TW" sz="1400" b="1" dirty="0">
                <a:sym typeface="Wingdings" panose="05000000000000000000" pitchFamily="2" charset="2"/>
              </a:rPr>
              <a:t>,</a:t>
            </a:r>
            <a:r>
              <a:rPr lang="zh-TW" altLang="en-US" sz="1400" b="1" dirty="0">
                <a:sym typeface="Wingdings" panose="05000000000000000000" pitchFamily="2" charset="2"/>
              </a:rPr>
              <a:t>總數量</a:t>
            </a:r>
            <a:r>
              <a:rPr lang="en-US" altLang="zh-TW" sz="1400" b="1" dirty="0">
                <a:sym typeface="Wingdings" panose="05000000000000000000" pitchFamily="2" charset="2"/>
              </a:rPr>
              <a:t>) </a:t>
            </a:r>
            <a:r>
              <a:rPr lang="zh-TW" altLang="en-US" sz="1400" b="1" dirty="0">
                <a:sym typeface="Wingdings" panose="05000000000000000000" pitchFamily="2" charset="2"/>
              </a:rPr>
              <a:t>要依此商品列表向廠商訂貨</a:t>
            </a:r>
            <a:endParaRPr lang="en-US" altLang="zh-TW" sz="1400" b="1" dirty="0">
              <a:sym typeface="Wingdings" panose="05000000000000000000" pitchFamily="2" charset="2"/>
            </a:endParaRPr>
          </a:p>
          <a:p>
            <a:r>
              <a:rPr lang="en-US" altLang="zh-TW" sz="1400" b="1" dirty="0">
                <a:sym typeface="Wingdings" panose="05000000000000000000" pitchFamily="2" charset="2"/>
              </a:rPr>
              <a:t>              4.</a:t>
            </a:r>
            <a:r>
              <a:rPr lang="zh-TW" altLang="en-US" sz="1400" b="1" dirty="0">
                <a:sym typeface="Wingdings" panose="05000000000000000000" pitchFamily="2" charset="2"/>
              </a:rPr>
              <a:t>查詢已斷貨商品列表</a:t>
            </a:r>
            <a:r>
              <a:rPr lang="en-US" altLang="zh-TW" sz="1400" b="1" dirty="0">
                <a:sym typeface="Wingdings" panose="05000000000000000000" pitchFamily="2" charset="2"/>
              </a:rPr>
              <a:t>(</a:t>
            </a:r>
            <a:r>
              <a:rPr lang="zh-TW" altLang="en-US" sz="1400" b="1" dirty="0">
                <a:sym typeface="Wingdings" panose="05000000000000000000" pitchFamily="2" charset="2"/>
              </a:rPr>
              <a:t>向廠商結款斷貨商品</a:t>
            </a:r>
            <a:r>
              <a:rPr lang="en-US" altLang="zh-TW" sz="1400" b="1" dirty="0">
                <a:sym typeface="Wingdings" panose="05000000000000000000" pitchFamily="2" charset="2"/>
              </a:rPr>
              <a:t>)</a:t>
            </a:r>
          </a:p>
          <a:p>
            <a:r>
              <a:rPr lang="en-US" altLang="zh-TW" sz="1400" b="1" dirty="0">
                <a:sym typeface="Wingdings" panose="05000000000000000000" pitchFamily="2" charset="2"/>
              </a:rPr>
              <a:t>              5.</a:t>
            </a:r>
            <a:r>
              <a:rPr lang="zh-TW" altLang="en-US" sz="1400" b="1" dirty="0">
                <a:sym typeface="Wingdings" panose="05000000000000000000" pitchFamily="2" charset="2"/>
              </a:rPr>
              <a:t>點選已結清斷貨商品</a:t>
            </a:r>
            <a:r>
              <a:rPr lang="en-US" altLang="zh-TW" sz="1400" b="1" dirty="0">
                <a:sym typeface="Wingdings" panose="05000000000000000000" pitchFamily="2" charset="2"/>
              </a:rPr>
              <a:t>,</a:t>
            </a:r>
            <a:r>
              <a:rPr lang="zh-TW" altLang="en-US" sz="1400" b="1" dirty="0">
                <a:sym typeface="Wingdings" panose="05000000000000000000" pitchFamily="2" charset="2"/>
              </a:rPr>
              <a:t>結清後不再列進斷貨商品列表</a:t>
            </a:r>
            <a:r>
              <a:rPr lang="en-US" altLang="zh-TW" sz="1400" b="1" dirty="0">
                <a:sym typeface="Wingdings" panose="05000000000000000000" pitchFamily="2" charset="2"/>
              </a:rPr>
              <a:t>(</a:t>
            </a:r>
            <a:r>
              <a:rPr lang="zh-TW" altLang="en-US" sz="1400" b="1" dirty="0">
                <a:sym typeface="Wingdings" panose="05000000000000000000" pitchFamily="2" charset="2"/>
              </a:rPr>
              <a:t>隱藏</a:t>
            </a:r>
            <a:r>
              <a:rPr lang="en-US" altLang="zh-TW" sz="1400" b="1" dirty="0">
                <a:sym typeface="Wingdings" panose="05000000000000000000" pitchFamily="2" charset="2"/>
              </a:rPr>
              <a:t>)</a:t>
            </a:r>
            <a:endParaRPr lang="zh-TW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9206267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文字方塊 12"/>
          <p:cNvSpPr txBox="1"/>
          <p:nvPr/>
        </p:nvSpPr>
        <p:spPr>
          <a:xfrm>
            <a:off x="2780928" y="-46563"/>
            <a:ext cx="113729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b="1" dirty="0">
                <a:solidFill>
                  <a:srgbClr val="0070C0"/>
                </a:solidFill>
              </a:rPr>
              <a:t>Google Sheet</a:t>
            </a:r>
            <a:endParaRPr lang="zh-TW" altLang="en-US" sz="1350" b="1" dirty="0">
              <a:solidFill>
                <a:srgbClr val="0070C0"/>
              </a:solidFill>
            </a:endParaRPr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0982" y="4572000"/>
            <a:ext cx="6858000" cy="4519306"/>
          </a:xfrm>
          <a:prstGeom prst="rect">
            <a:avLst/>
          </a:prstGeom>
        </p:spPr>
      </p:pic>
      <p:pic>
        <p:nvPicPr>
          <p:cNvPr id="3" name="圖片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982" y="395536"/>
            <a:ext cx="6858000" cy="491305"/>
          </a:xfrm>
          <a:prstGeom prst="rect">
            <a:avLst/>
          </a:prstGeom>
        </p:spPr>
      </p:pic>
      <p:pic>
        <p:nvPicPr>
          <p:cNvPr id="4" name="圖片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982" y="1043145"/>
            <a:ext cx="6858000" cy="574623"/>
          </a:xfrm>
          <a:prstGeom prst="rect">
            <a:avLst/>
          </a:prstGeom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982" y="2774539"/>
            <a:ext cx="6858000" cy="640690"/>
          </a:xfrm>
          <a:prstGeom prst="rect">
            <a:avLst/>
          </a:prstGeom>
        </p:spPr>
      </p:pic>
      <p:pic>
        <p:nvPicPr>
          <p:cNvPr id="6" name="圖片 5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13308"/>
            <a:ext cx="6858000" cy="755939"/>
          </a:xfrm>
          <a:prstGeom prst="rect">
            <a:avLst/>
          </a:prstGeom>
        </p:spPr>
      </p:pic>
      <p:pic>
        <p:nvPicPr>
          <p:cNvPr id="7" name="圖片 6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48201"/>
            <a:ext cx="6858000" cy="896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64445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722" y="83823"/>
            <a:ext cx="6483138" cy="8919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7055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950" b="8282"/>
          <a:stretch/>
        </p:blipFill>
        <p:spPr>
          <a:xfrm>
            <a:off x="140468" y="323528"/>
            <a:ext cx="2472358" cy="2339752"/>
          </a:xfrm>
          <a:prstGeom prst="rect">
            <a:avLst/>
          </a:prstGeom>
        </p:spPr>
      </p:pic>
      <p:pic>
        <p:nvPicPr>
          <p:cNvPr id="6" name="圖片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353"/>
          <a:stretch/>
        </p:blipFill>
        <p:spPr>
          <a:xfrm>
            <a:off x="177205" y="3131840"/>
            <a:ext cx="2448272" cy="3491862"/>
          </a:xfrm>
          <a:prstGeom prst="rect">
            <a:avLst/>
          </a:prstGeom>
        </p:spPr>
      </p:pic>
      <p:grpSp>
        <p:nvGrpSpPr>
          <p:cNvPr id="11" name="群組 10"/>
          <p:cNvGrpSpPr/>
          <p:nvPr/>
        </p:nvGrpSpPr>
        <p:grpSpPr>
          <a:xfrm>
            <a:off x="2746952" y="3635896"/>
            <a:ext cx="3855086" cy="2381058"/>
            <a:chOff x="2755296" y="4210932"/>
            <a:chExt cx="3855086" cy="2381058"/>
          </a:xfrm>
        </p:grpSpPr>
        <p:sp>
          <p:nvSpPr>
            <p:cNvPr id="8" name="文字方塊 7"/>
            <p:cNvSpPr txBox="1"/>
            <p:nvPr/>
          </p:nvSpPr>
          <p:spPr>
            <a:xfrm>
              <a:off x="4390735" y="4283666"/>
              <a:ext cx="2219647" cy="23083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600" dirty="0" smtClean="0"/>
                <a:t>liff-admin-products.html</a:t>
              </a:r>
            </a:p>
            <a:p>
              <a:r>
                <a:rPr lang="en-US" altLang="zh-TW" sz="1600" dirty="0" smtClean="0"/>
                <a:t>liff-admin-orders.html</a:t>
              </a:r>
              <a:endParaRPr lang="en-US" altLang="zh-TW" sz="1600" dirty="0"/>
            </a:p>
            <a:p>
              <a:r>
                <a:rPr lang="en-US" altLang="zh-TW" sz="1600" dirty="0" smtClean="0"/>
                <a:t>liff-admin-arrival.html</a:t>
              </a:r>
              <a:endParaRPr lang="en-US" altLang="zh-TW" sz="1600" dirty="0"/>
            </a:p>
            <a:p>
              <a:r>
                <a:rPr lang="en-US" altLang="zh-TW" sz="1600" dirty="0" smtClean="0"/>
                <a:t>liff-admin-shipping.html</a:t>
              </a:r>
              <a:endParaRPr lang="en-US" altLang="zh-TW" sz="1600" dirty="0"/>
            </a:p>
            <a:p>
              <a:r>
                <a:rPr lang="en-US" altLang="zh-TW" sz="1600" dirty="0" smtClean="0"/>
                <a:t>liff-admin-vedor.html</a:t>
              </a:r>
            </a:p>
            <a:p>
              <a:r>
                <a:rPr lang="en-US" altLang="zh-TW" sz="1600" dirty="0" smtClean="0"/>
                <a:t>liff-admin-settings.html</a:t>
              </a:r>
            </a:p>
            <a:p>
              <a:endParaRPr lang="en-US" altLang="zh-TW" sz="1600" dirty="0"/>
            </a:p>
            <a:p>
              <a:r>
                <a:rPr lang="en-US" altLang="zh-TW" sz="1600" dirty="0" smtClean="0"/>
                <a:t>liff-admin-dispatch.html</a:t>
              </a:r>
              <a:endParaRPr lang="en-US" altLang="zh-TW" sz="1600" dirty="0"/>
            </a:p>
            <a:p>
              <a:endParaRPr lang="zh-TW" altLang="en-US" sz="1600" dirty="0"/>
            </a:p>
          </p:txBody>
        </p:sp>
        <p:pic>
          <p:nvPicPr>
            <p:cNvPr id="9" name="圖片 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755296" y="4210932"/>
              <a:ext cx="1635439" cy="1715129"/>
            </a:xfrm>
            <a:prstGeom prst="rect">
              <a:avLst/>
            </a:prstGeom>
          </p:spPr>
        </p:pic>
      </p:grpSp>
      <p:grpSp>
        <p:nvGrpSpPr>
          <p:cNvPr id="21" name="群組 20"/>
          <p:cNvGrpSpPr/>
          <p:nvPr/>
        </p:nvGrpSpPr>
        <p:grpSpPr>
          <a:xfrm>
            <a:off x="2791103" y="1533553"/>
            <a:ext cx="1518719" cy="1748728"/>
            <a:chOff x="2707654" y="868790"/>
            <a:chExt cx="1297410" cy="1689580"/>
          </a:xfrm>
        </p:grpSpPr>
        <p:pic>
          <p:nvPicPr>
            <p:cNvPr id="12" name="圖片 11"/>
            <p:cNvPicPr>
              <a:picLocks noChangeAspect="1"/>
            </p:cNvPicPr>
            <p:nvPr/>
          </p:nvPicPr>
          <p:blipFill rotWithShape="1">
            <a:blip r:embed="rId5"/>
            <a:srcRect l="49430" t="75336" r="6933" b="9285"/>
            <a:stretch/>
          </p:blipFill>
          <p:spPr>
            <a:xfrm>
              <a:off x="2770758" y="2198330"/>
              <a:ext cx="1080121" cy="360040"/>
            </a:xfrm>
            <a:prstGeom prst="rect">
              <a:avLst/>
            </a:prstGeom>
          </p:spPr>
        </p:pic>
        <p:pic>
          <p:nvPicPr>
            <p:cNvPr id="13" name="圖片 12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707654" y="868790"/>
              <a:ext cx="1225402" cy="359695"/>
            </a:xfrm>
            <a:prstGeom prst="rect">
              <a:avLst/>
            </a:prstGeom>
          </p:spPr>
        </p:pic>
        <p:pic>
          <p:nvPicPr>
            <p:cNvPr id="14" name="圖片 13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779662" y="1313556"/>
              <a:ext cx="1225402" cy="359695"/>
            </a:xfrm>
            <a:prstGeom prst="rect">
              <a:avLst/>
            </a:prstGeom>
          </p:spPr>
        </p:pic>
        <p:pic>
          <p:nvPicPr>
            <p:cNvPr id="15" name="圖片 14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812193" y="1758322"/>
              <a:ext cx="1085182" cy="359695"/>
            </a:xfrm>
            <a:prstGeom prst="rect">
              <a:avLst/>
            </a:prstGeom>
          </p:spPr>
        </p:pic>
      </p:grpSp>
      <p:sp>
        <p:nvSpPr>
          <p:cNvPr id="16" name="文字方塊 15"/>
          <p:cNvSpPr txBox="1"/>
          <p:nvPr/>
        </p:nvSpPr>
        <p:spPr>
          <a:xfrm>
            <a:off x="4255696" y="1533553"/>
            <a:ext cx="236763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 smtClean="0"/>
              <a:t>Liff-order.html</a:t>
            </a:r>
          </a:p>
          <a:p>
            <a:endParaRPr lang="en-US" altLang="zh-TW" sz="1600" dirty="0" smtClean="0"/>
          </a:p>
          <a:p>
            <a:r>
              <a:rPr lang="en-US" altLang="zh-TW" sz="1600" dirty="0" smtClean="0"/>
              <a:t>liff-buyer-order.html</a:t>
            </a:r>
            <a:endParaRPr lang="en-US" altLang="zh-TW" sz="1600" dirty="0"/>
          </a:p>
          <a:p>
            <a:endParaRPr lang="en-US" altLang="zh-TW" sz="1600" dirty="0" smtClean="0"/>
          </a:p>
          <a:p>
            <a:r>
              <a:rPr lang="en-US" altLang="zh-TW" sz="1600" dirty="0" smtClean="0"/>
              <a:t>liff-overstock-buyer.html</a:t>
            </a:r>
          </a:p>
          <a:p>
            <a:endParaRPr lang="en-US" altLang="zh-TW" sz="1600" dirty="0" smtClean="0"/>
          </a:p>
          <a:p>
            <a:r>
              <a:rPr lang="en-US" altLang="zh-TW" sz="1600" dirty="0" smtClean="0"/>
              <a:t>liff-admin-dashboard.html</a:t>
            </a:r>
            <a:endParaRPr lang="zh-TW" altLang="en-US" sz="1600" dirty="0"/>
          </a:p>
        </p:txBody>
      </p:sp>
      <p:pic>
        <p:nvPicPr>
          <p:cNvPr id="18" name="圖片 1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24132" y="5411118"/>
            <a:ext cx="1877731" cy="408467"/>
          </a:xfrm>
          <a:prstGeom prst="rect">
            <a:avLst/>
          </a:prstGeom>
        </p:spPr>
      </p:pic>
      <p:pic>
        <p:nvPicPr>
          <p:cNvPr id="19" name="圖片 1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24132" y="5676689"/>
            <a:ext cx="3371380" cy="438950"/>
          </a:xfrm>
          <a:prstGeom prst="rect">
            <a:avLst/>
          </a:prstGeom>
        </p:spPr>
      </p:pic>
      <p:sp>
        <p:nvSpPr>
          <p:cNvPr id="20" name="矩形 19"/>
          <p:cNvSpPr/>
          <p:nvPr/>
        </p:nvSpPr>
        <p:spPr>
          <a:xfrm>
            <a:off x="3430395" y="556851"/>
            <a:ext cx="2326984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dirty="0" smtClean="0"/>
              <a:t>liff-product-list.html</a:t>
            </a:r>
          </a:p>
          <a:p>
            <a:r>
              <a:rPr lang="en-US" altLang="zh-TW" dirty="0" smtClean="0"/>
              <a:t>liff-product-detail.html</a:t>
            </a:r>
            <a:endParaRPr lang="en-US" altLang="zh-TW" dirty="0"/>
          </a:p>
          <a:p>
            <a:endParaRPr lang="en-US" altLang="zh-TW" dirty="0"/>
          </a:p>
        </p:txBody>
      </p:sp>
      <p:cxnSp>
        <p:nvCxnSpPr>
          <p:cNvPr id="23" name="直線單箭頭接點 22"/>
          <p:cNvCxnSpPr/>
          <p:nvPr/>
        </p:nvCxnSpPr>
        <p:spPr>
          <a:xfrm flipV="1">
            <a:off x="4081092" y="1156823"/>
            <a:ext cx="144439" cy="53015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/>
        </p:nvSpPr>
        <p:spPr>
          <a:xfrm>
            <a:off x="3251008" y="556851"/>
            <a:ext cx="2744504" cy="59997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" name="矩形 24"/>
          <p:cNvSpPr/>
          <p:nvPr/>
        </p:nvSpPr>
        <p:spPr>
          <a:xfrm>
            <a:off x="4255696" y="1501006"/>
            <a:ext cx="1350137" cy="40483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27" name="直線單箭頭接點 26"/>
          <p:cNvCxnSpPr>
            <a:endCxn id="25" idx="1"/>
          </p:cNvCxnSpPr>
          <p:nvPr/>
        </p:nvCxnSpPr>
        <p:spPr>
          <a:xfrm>
            <a:off x="4081092" y="1690874"/>
            <a:ext cx="174604" cy="1254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44285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2137</TotalTime>
  <Words>577</Words>
  <Application>Microsoft Office PowerPoint</Application>
  <PresentationFormat>如螢幕大小 (4:3)</PresentationFormat>
  <Paragraphs>58</Paragraphs>
  <Slides>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</vt:i4>
      </vt:variant>
    </vt:vector>
  </HeadingPairs>
  <TitlesOfParts>
    <vt:vector size="10" baseType="lpstr">
      <vt:lpstr>新細明體</vt:lpstr>
      <vt:lpstr>Arial</vt:lpstr>
      <vt:lpstr>Calibri</vt:lpstr>
      <vt:lpstr>Times New Roman</vt:lpstr>
      <vt:lpstr>Wingdings</vt:lpstr>
      <vt:lpstr>Office 佈景主題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user</dc:creator>
  <cp:lastModifiedBy>郭大立</cp:lastModifiedBy>
  <cp:revision>57</cp:revision>
  <dcterms:created xsi:type="dcterms:W3CDTF">2026-01-28T11:46:01Z</dcterms:created>
  <dcterms:modified xsi:type="dcterms:W3CDTF">2026-03-22T14:14:15Z</dcterms:modified>
</cp:coreProperties>
</file>