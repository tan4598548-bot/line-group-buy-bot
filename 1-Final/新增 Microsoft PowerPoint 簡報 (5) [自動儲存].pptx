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  <p:sldId id="267" r:id="rId3"/>
    <p:sldId id="269" r:id="rId4"/>
    <p:sldId id="257" r:id="rId5"/>
    <p:sldId id="258" r:id="rId6"/>
    <p:sldId id="260" r:id="rId7"/>
    <p:sldId id="261" r:id="rId8"/>
    <p:sldId id="262" r:id="rId9"/>
    <p:sldId id="263" r:id="rId10"/>
    <p:sldId id="264" r:id="rId11"/>
    <p:sldId id="265" r:id="rId12"/>
  </p:sldIdLst>
  <p:sldSz cx="6858000" cy="9144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28" autoAdjust="0"/>
    <p:restoredTop sz="94660"/>
  </p:normalViewPr>
  <p:slideViewPr>
    <p:cSldViewPr>
      <p:cViewPr varScale="1">
        <p:scale>
          <a:sx n="58" d="100"/>
          <a:sy n="58" d="100"/>
        </p:scale>
        <p:origin x="1123" y="12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2026/2/24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2026/2/24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2026/2/24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42900" y="2133601"/>
            <a:ext cx="3028950" cy="6034617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3486150" y="2133601"/>
            <a:ext cx="3028950" cy="6034617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2026/2/24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2026/2/24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2026/2/24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2026/2/24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2026/2/24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2026/2/24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2026/2/24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4972050" y="366185"/>
            <a:ext cx="1543050" cy="7802033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42900" y="366185"/>
            <a:ext cx="4514850" cy="7802033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2026/2/24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BEAD13-0566-4C6C-97E7-55F17F24B09F}" type="datetimeFigureOut">
              <a:rPr lang="zh-TW" altLang="en-US" smtClean="0"/>
              <a:t>2026/2/24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6858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6858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685800" rtl="0" eaLnBrk="1" latinLnBrk="0" hangingPunct="1">
        <a:spcBef>
          <a:spcPct val="20000"/>
        </a:spcBef>
        <a:buFont typeface="Arial" pitchFamily="34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spcBef>
          <a:spcPct val="20000"/>
        </a:spcBef>
        <a:buFont typeface="Arial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spcBef>
          <a:spcPct val="20000"/>
        </a:spcBef>
        <a:buFont typeface="Arial" pitchFamily="34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image" Target="../media/image14.jpg"/><Relationship Id="rId16" Type="http://schemas.openxmlformats.org/officeDocument/2006/relationships/image" Target="../media/image28.png"/><Relationship Id="rId20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19" Type="http://schemas.openxmlformats.org/officeDocument/2006/relationships/image" Target="../media/image31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Relationship Id="rId14" Type="http://schemas.openxmlformats.org/officeDocument/2006/relationships/image" Target="../media/image2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3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FCD40F2-9077-1A99-8F71-7B84A1B2A76A}"/>
              </a:ext>
            </a:extLst>
          </p:cNvPr>
          <p:cNvSpPr txBox="1"/>
          <p:nvPr/>
        </p:nvSpPr>
        <p:spPr>
          <a:xfrm>
            <a:off x="1" y="179512"/>
            <a:ext cx="6858000" cy="87100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400" b="1" dirty="0"/>
              <a:t>團購網主要需求如下：</a:t>
            </a:r>
            <a:endParaRPr lang="en-US" altLang="zh-TW" sz="1400" b="1" dirty="0"/>
          </a:p>
          <a:p>
            <a:pPr marL="342900" indent="-342900">
              <a:buAutoNum type="arabicParenR"/>
            </a:pPr>
            <a:r>
              <a:rPr lang="zh-TW" altLang="en-US" sz="1400" b="1" dirty="0"/>
              <a:t>人數約</a:t>
            </a:r>
            <a:r>
              <a:rPr lang="en-US" altLang="zh-TW" sz="1400" b="1" dirty="0"/>
              <a:t>100</a:t>
            </a:r>
            <a:r>
              <a:rPr lang="zh-TW" altLang="en-US" sz="1400" b="1" dirty="0"/>
              <a:t>人</a:t>
            </a:r>
            <a:endParaRPr lang="en-US" altLang="zh-TW" sz="1400" b="1" dirty="0"/>
          </a:p>
          <a:p>
            <a:pPr marL="342900" indent="-342900">
              <a:buAutoNum type="arabicParenR"/>
            </a:pPr>
            <a:r>
              <a:rPr lang="zh-TW" altLang="en-US" sz="1400" b="1" dirty="0"/>
              <a:t>可視化手機操作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訂貨及管理操作</a:t>
            </a:r>
            <a:r>
              <a:rPr lang="en-US" altLang="zh-TW" sz="1400" b="1" dirty="0"/>
              <a:t>)</a:t>
            </a:r>
          </a:p>
          <a:p>
            <a:pPr marL="342900" indent="-342900">
              <a:buAutoNum type="arabicParenR"/>
            </a:pPr>
            <a:r>
              <a:rPr lang="zh-TW" altLang="en-US" sz="1400" b="1" dirty="0"/>
              <a:t>買家部份</a:t>
            </a:r>
            <a:r>
              <a:rPr lang="en-US" altLang="zh-TW" sz="1400" b="1" dirty="0"/>
              <a:t>: (</a:t>
            </a:r>
            <a:r>
              <a:rPr lang="zh-TW" altLang="en-US" sz="1400" b="1" dirty="0"/>
              <a:t>於</a:t>
            </a:r>
            <a:r>
              <a:rPr lang="en-US" altLang="zh-TW" sz="1400" b="1" dirty="0"/>
              <a:t>line</a:t>
            </a:r>
            <a:r>
              <a:rPr lang="zh-TW" altLang="en-US" sz="1400" b="1" dirty="0"/>
              <a:t>選單的</a:t>
            </a:r>
            <a:r>
              <a:rPr lang="en-US" altLang="zh-TW" sz="1400" b="1" dirty="0"/>
              <a:t>3</a:t>
            </a:r>
            <a:r>
              <a:rPr lang="zh-TW" altLang="en-US" sz="1400" b="1" dirty="0"/>
              <a:t>個入口頁面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(a) </a:t>
            </a:r>
            <a:r>
              <a:rPr lang="zh-TW" altLang="en-US" sz="1400" b="1" dirty="0"/>
              <a:t>我要下單 </a:t>
            </a:r>
            <a:endParaRPr lang="en-US" altLang="zh-TW" sz="1400" b="1" dirty="0"/>
          </a:p>
          <a:p>
            <a:r>
              <a:rPr lang="en-US" altLang="zh-TW" sz="1400" b="1" dirty="0"/>
              <a:t>             </a:t>
            </a:r>
            <a:r>
              <a:rPr lang="zh-TW" altLang="en-US" sz="1400" b="1" dirty="0"/>
              <a:t>顯示商品清單縮圖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點選購買商品後進入詳細商品頁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下方放</a:t>
            </a:r>
            <a:r>
              <a:rPr lang="en-US" altLang="zh-TW" sz="1400" b="1" dirty="0"/>
              <a:t>”</a:t>
            </a:r>
            <a:r>
              <a:rPr lang="zh-TW" altLang="en-US" sz="1400" b="1" dirty="0"/>
              <a:t>購買按鈕</a:t>
            </a:r>
            <a:r>
              <a:rPr lang="en-US" altLang="zh-TW" sz="1400" b="1" dirty="0"/>
              <a:t>”</a:t>
            </a:r>
          </a:p>
          <a:p>
            <a:r>
              <a:rPr lang="en-US" altLang="zh-TW" sz="1400" b="1" dirty="0"/>
              <a:t>        (b) </a:t>
            </a:r>
            <a:r>
              <a:rPr lang="zh-TW" altLang="en-US" sz="1400" b="1" dirty="0"/>
              <a:t>我的訂單</a:t>
            </a:r>
            <a:r>
              <a:rPr lang="en-US" altLang="zh-TW" sz="1400" b="1" dirty="0"/>
              <a:t>/</a:t>
            </a:r>
          </a:p>
          <a:p>
            <a:r>
              <a:rPr lang="en-US" altLang="zh-TW" sz="1400" b="1" dirty="0"/>
              <a:t>         </a:t>
            </a:r>
            <a:r>
              <a:rPr lang="zh-TW" altLang="en-US" sz="1400" b="1" dirty="0"/>
              <a:t>查詢</a:t>
            </a:r>
            <a:r>
              <a:rPr lang="en-US" altLang="zh-TW" sz="1400" b="1" dirty="0"/>
              <a:t>: </a:t>
            </a:r>
            <a:r>
              <a:rPr lang="zh-TW" altLang="en-US" sz="1400" b="1" dirty="0"/>
              <a:t>顯示查詢買家個人已訂未到貨列表</a:t>
            </a:r>
            <a:endParaRPr lang="en-US" altLang="zh-TW" sz="1400" b="1" dirty="0"/>
          </a:p>
          <a:p>
            <a:r>
              <a:rPr lang="zh-TW" altLang="en-US" sz="1400" b="1" dirty="0"/>
              <a:t>         修改</a:t>
            </a:r>
            <a:r>
              <a:rPr lang="en-US" altLang="zh-TW" sz="1400" b="1" dirty="0"/>
              <a:t>:</a:t>
            </a:r>
            <a:r>
              <a:rPr lang="zh-TW" altLang="en-US" sz="1400" b="1" dirty="0"/>
              <a:t>管理者未結單時都可刪除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重訂</a:t>
            </a:r>
            <a:r>
              <a:rPr lang="en-US" altLang="zh-TW" sz="1400" b="1" dirty="0"/>
              <a:t>)</a:t>
            </a:r>
            <a:r>
              <a:rPr lang="zh-TW" altLang="en-US" sz="1400" b="1" dirty="0"/>
              <a:t>訂單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結單後不可修改</a:t>
            </a:r>
            <a:r>
              <a:rPr lang="en-US" altLang="zh-TW" sz="1400" b="1" dirty="0">
                <a:sym typeface="Wingdings" panose="05000000000000000000" pitchFamily="2" charset="2"/>
              </a:rPr>
              <a:t></a:t>
            </a:r>
            <a:r>
              <a:rPr lang="zh-TW" altLang="en-US" sz="1400" b="1" dirty="0">
                <a:sym typeface="Wingdings" panose="05000000000000000000" pitchFamily="2" charset="2"/>
              </a:rPr>
              <a:t>列入已訂未到貨清單</a:t>
            </a:r>
            <a:r>
              <a:rPr lang="en-US" altLang="zh-TW" sz="1400" b="1" dirty="0">
                <a:sym typeface="Wingdings" panose="05000000000000000000" pitchFamily="2" charset="2"/>
              </a:rPr>
              <a:t>)</a:t>
            </a: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(c) </a:t>
            </a:r>
            <a:r>
              <a:rPr lang="zh-TW" altLang="en-US" sz="1400" b="1" dirty="0">
                <a:sym typeface="Wingdings" panose="05000000000000000000" pitchFamily="2" charset="2"/>
              </a:rPr>
              <a:t>現貨出清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/>
              <a:t>              </a:t>
            </a:r>
            <a:r>
              <a:rPr lang="zh-TW" altLang="en-US" sz="1400" b="1" dirty="0"/>
              <a:t>搶購溢多現貨商品</a:t>
            </a:r>
            <a:endParaRPr lang="en-US" altLang="zh-TW" sz="1400" b="1" dirty="0"/>
          </a:p>
          <a:p>
            <a:r>
              <a:rPr lang="en-US" altLang="zh-TW" sz="1400" b="1" dirty="0"/>
              <a:t>4)    </a:t>
            </a:r>
            <a:r>
              <a:rPr lang="zh-TW" altLang="en-US" sz="1400" b="1" dirty="0"/>
              <a:t>團主管理部份</a:t>
            </a:r>
            <a:r>
              <a:rPr lang="en-US" altLang="zh-TW" sz="1400" b="1" dirty="0"/>
              <a:t>:(</a:t>
            </a:r>
            <a:r>
              <a:rPr lang="zh-TW" altLang="en-US" sz="1400" b="1" dirty="0"/>
              <a:t>於</a:t>
            </a:r>
            <a:r>
              <a:rPr lang="en-US" altLang="zh-TW" sz="1400" b="1" dirty="0"/>
              <a:t>line</a:t>
            </a:r>
            <a:r>
              <a:rPr lang="zh-TW" altLang="en-US" sz="1400" b="1" dirty="0"/>
              <a:t>選單第</a:t>
            </a:r>
            <a:r>
              <a:rPr lang="en-US" altLang="zh-TW" sz="1400" b="1" dirty="0"/>
              <a:t>4</a:t>
            </a:r>
            <a:r>
              <a:rPr lang="zh-TW" altLang="en-US" sz="1400" b="1" dirty="0"/>
              <a:t>個入口頁面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(a) </a:t>
            </a:r>
            <a:r>
              <a:rPr lang="zh-TW" altLang="en-US" sz="1400" b="1" dirty="0"/>
              <a:t>商品管理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上架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 1. </a:t>
            </a:r>
            <a:r>
              <a:rPr lang="zh-TW" altLang="en-US" sz="1400" b="1" dirty="0"/>
              <a:t>新商品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含訂價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數量</a:t>
            </a:r>
            <a:r>
              <a:rPr lang="en-US" altLang="zh-TW" sz="1400" b="1" dirty="0"/>
              <a:t>…</a:t>
            </a:r>
            <a:r>
              <a:rPr lang="zh-TW" altLang="en-US" sz="1400" b="1" dirty="0"/>
              <a:t>各商品結單日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      </a:t>
            </a:r>
            <a:r>
              <a:rPr lang="zh-TW" altLang="en-US" sz="1400" b="1" dirty="0"/>
              <a:t>於結單日前</a:t>
            </a:r>
            <a:r>
              <a:rPr lang="en-US" altLang="zh-TW" sz="1400" b="1" dirty="0"/>
              <a:t>1</a:t>
            </a:r>
            <a:r>
              <a:rPr lang="zh-TW" altLang="en-US" sz="1400" b="1" dirty="0"/>
              <a:t>天主動推播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商品即將結單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要訂的請儘快下訂</a:t>
            </a:r>
            <a:r>
              <a:rPr lang="en-US" altLang="zh-TW" sz="1400" b="1" dirty="0"/>
              <a:t>……)</a:t>
            </a:r>
          </a:p>
          <a:p>
            <a:r>
              <a:rPr lang="en-US" altLang="zh-TW" sz="1400" b="1" dirty="0"/>
              <a:t>               2. </a:t>
            </a:r>
            <a:r>
              <a:rPr lang="zh-TW" altLang="en-US" sz="1400" b="1" dirty="0"/>
              <a:t>現貨商品 </a:t>
            </a:r>
            <a:endParaRPr lang="en-US" altLang="zh-TW" sz="1400" b="1" dirty="0"/>
          </a:p>
          <a:p>
            <a:r>
              <a:rPr lang="zh-TW" altLang="en-US" sz="1400" b="1" dirty="0"/>
              <a:t>                    防止同時下單機制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先下單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先壓按鈕</a:t>
            </a:r>
            <a:r>
              <a:rPr lang="en-US" altLang="zh-TW" sz="1400" b="1" dirty="0"/>
              <a:t>)</a:t>
            </a:r>
            <a:r>
              <a:rPr lang="zh-TW" altLang="en-US" sz="1400" b="1" dirty="0"/>
              <a:t>者就刪除該筆商品</a:t>
            </a:r>
            <a:r>
              <a:rPr lang="en-US" altLang="zh-TW" sz="1400" b="1" dirty="0"/>
              <a:t> </a:t>
            </a:r>
          </a:p>
          <a:p>
            <a:r>
              <a:rPr lang="en-US" altLang="zh-TW" sz="1400" b="1" dirty="0"/>
              <a:t>                    </a:t>
            </a:r>
            <a:r>
              <a:rPr lang="zh-TW" altLang="en-US" sz="1400" b="1" dirty="0"/>
              <a:t>搶購成功時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主動推播該團友已訂</a:t>
            </a:r>
            <a:r>
              <a:rPr lang="en-US" altLang="zh-TW" sz="1400" b="1" dirty="0"/>
              <a:t>……..</a:t>
            </a:r>
          </a:p>
          <a:p>
            <a:r>
              <a:rPr lang="en-US" altLang="zh-TW" sz="1400" b="1" dirty="0"/>
              <a:t>        (b) </a:t>
            </a:r>
            <a:r>
              <a:rPr lang="zh-TW" altLang="en-US" sz="1400" b="1" dirty="0"/>
              <a:t>訂單</a:t>
            </a:r>
            <a:r>
              <a:rPr lang="en-US" altLang="zh-TW" sz="1400" b="1" dirty="0"/>
              <a:t>/</a:t>
            </a:r>
            <a:r>
              <a:rPr lang="zh-TW" altLang="en-US" sz="1400" b="1" dirty="0"/>
              <a:t>查詢</a:t>
            </a:r>
            <a:endParaRPr lang="en-US" altLang="zh-TW" sz="1400" b="1" dirty="0"/>
          </a:p>
          <a:p>
            <a:r>
              <a:rPr lang="en-US" altLang="zh-TW" sz="1400" b="1" dirty="0"/>
              <a:t>                 </a:t>
            </a:r>
            <a:r>
              <a:rPr lang="zh-TW" altLang="en-US" sz="1400" b="1" dirty="0"/>
              <a:t>訂單</a:t>
            </a:r>
            <a:r>
              <a:rPr lang="en-US" altLang="zh-TW" sz="1400" b="1" dirty="0"/>
              <a:t>:</a:t>
            </a:r>
          </a:p>
          <a:p>
            <a:r>
              <a:rPr lang="zh-TW" altLang="en-US" sz="1400" b="1" dirty="0"/>
              <a:t>                </a:t>
            </a:r>
            <a:r>
              <a:rPr lang="en-US" altLang="zh-TW" sz="1400" b="1" dirty="0"/>
              <a:t>1. </a:t>
            </a:r>
            <a:r>
              <a:rPr lang="zh-TW" altLang="en-US" sz="1400" b="1" dirty="0"/>
              <a:t>結單</a:t>
            </a:r>
            <a:r>
              <a:rPr lang="en-US" altLang="zh-TW" sz="1400" b="1" dirty="0"/>
              <a:t>: </a:t>
            </a:r>
            <a:r>
              <a:rPr lang="zh-TW" altLang="en-US" sz="1400" b="1" dirty="0"/>
              <a:t>列出目前已過結單日的商品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一鍵結單後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該商品不能再讓買家訂購</a:t>
            </a:r>
            <a:endParaRPr lang="en-US" altLang="zh-TW" sz="1400" b="1" dirty="0"/>
          </a:p>
          <a:p>
            <a:r>
              <a:rPr lang="en-US" altLang="zh-TW" sz="1400" b="1" dirty="0"/>
              <a:t>                                (</a:t>
            </a:r>
            <a:r>
              <a:rPr lang="zh-TW" altLang="en-US" sz="1400" b="1" dirty="0"/>
              <a:t>通常商品結單日不等於團主要結單的日期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  2. </a:t>
            </a:r>
            <a:r>
              <a:rPr lang="zh-TW" altLang="en-US" sz="1400" b="1" dirty="0"/>
              <a:t>斷貨商品</a:t>
            </a:r>
            <a:r>
              <a:rPr lang="en-US" altLang="zh-TW" sz="1400" b="1" dirty="0"/>
              <a:t>:</a:t>
            </a:r>
            <a:r>
              <a:rPr lang="zh-TW" altLang="en-US" sz="1400" b="1" dirty="0"/>
              <a:t> 列出已訂未到貨商品供點選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點選後刪除該商品記錄</a:t>
            </a:r>
            <a:endParaRPr lang="en-US" altLang="zh-TW" sz="1400" b="1" dirty="0"/>
          </a:p>
          <a:p>
            <a:r>
              <a:rPr lang="en-US" altLang="zh-TW" sz="1400" b="1" dirty="0"/>
              <a:t>                                         </a:t>
            </a:r>
            <a:r>
              <a:rPr lang="zh-TW" altLang="en-US" sz="1400" b="1" dirty="0"/>
              <a:t>主動通知該已訂商品買家</a:t>
            </a:r>
            <a:r>
              <a:rPr lang="en-US" altLang="zh-TW" sz="1400" b="1" dirty="0"/>
              <a:t>,(</a:t>
            </a:r>
            <a:r>
              <a:rPr lang="zh-TW" altLang="en-US" sz="1400" b="1" dirty="0"/>
              <a:t>此商品已斷貨</a:t>
            </a:r>
            <a:r>
              <a:rPr lang="en-US" altLang="zh-TW" sz="1400" b="1" dirty="0"/>
              <a:t>…)</a:t>
            </a:r>
          </a:p>
          <a:p>
            <a:r>
              <a:rPr lang="en-US" altLang="zh-TW" sz="1400" b="1" dirty="0"/>
              <a:t>                 </a:t>
            </a:r>
            <a:r>
              <a:rPr lang="zh-TW" altLang="en-US" sz="1400" b="1" dirty="0"/>
              <a:t>查詢</a:t>
            </a:r>
            <a:r>
              <a:rPr lang="en-US" altLang="zh-TW" sz="1400" b="1" dirty="0"/>
              <a:t>:</a:t>
            </a:r>
          </a:p>
          <a:p>
            <a:r>
              <a:rPr lang="en-US" altLang="zh-TW" sz="1400" b="1" dirty="0"/>
              <a:t>                1. </a:t>
            </a:r>
            <a:r>
              <a:rPr lang="zh-TW" altLang="en-US" sz="1400" b="1" dirty="0"/>
              <a:t>查詢買家訂購資訊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可依人名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商品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查詢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  2. </a:t>
            </a:r>
            <a:r>
              <a:rPr lang="zh-TW" altLang="en-US" sz="1400" b="1" dirty="0"/>
              <a:t>查詢已訂未到貨資訊</a:t>
            </a:r>
            <a:endParaRPr lang="en-US" altLang="zh-TW" sz="1400" b="1" dirty="0"/>
          </a:p>
          <a:p>
            <a:r>
              <a:rPr lang="en-US" altLang="zh-TW" sz="1400" b="1" dirty="0"/>
              <a:t>                3. </a:t>
            </a:r>
            <a:r>
              <a:rPr lang="zh-TW" altLang="en-US" sz="1400" b="1" dirty="0"/>
              <a:t>修改上架商品及未結單商品</a:t>
            </a:r>
            <a:endParaRPr lang="en-US" altLang="zh-TW" sz="1400" b="1" dirty="0"/>
          </a:p>
          <a:p>
            <a:r>
              <a:rPr lang="en-US" altLang="zh-TW" sz="1400" b="1" dirty="0"/>
              <a:t>           (c) </a:t>
            </a:r>
            <a:r>
              <a:rPr lang="zh-TW" altLang="en-US" sz="1400" b="1" dirty="0"/>
              <a:t>到貨點貨</a:t>
            </a:r>
            <a:endParaRPr lang="en-US" altLang="zh-TW" sz="1400" b="1" dirty="0"/>
          </a:p>
          <a:p>
            <a:r>
              <a:rPr lang="en-US" altLang="zh-TW" sz="1400" b="1" dirty="0"/>
              <a:t>              1.</a:t>
            </a:r>
            <a:r>
              <a:rPr lang="zh-TW" altLang="en-US" sz="1400" b="1" dirty="0"/>
              <a:t>列出已訂未到貨商品供點選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含數量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尺寸顏色資訊</a:t>
            </a:r>
            <a:r>
              <a:rPr lang="en-US" altLang="zh-TW" sz="1400" b="1" dirty="0"/>
              <a:t>),</a:t>
            </a:r>
            <a:r>
              <a:rPr lang="zh-TW" altLang="zh-TW" sz="1400" b="1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可逐項勾選完成</a:t>
            </a:r>
            <a:endParaRPr lang="zh-TW" altLang="zh-TW" sz="1400" kern="100" dirty="0">
              <a:effectLst/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r>
              <a:rPr lang="en-US" altLang="zh-TW" sz="1400" b="1" dirty="0"/>
              <a:t>              2.</a:t>
            </a:r>
            <a:r>
              <a:rPr lang="zh-TW" altLang="en-US" sz="1400" b="1" dirty="0"/>
              <a:t>完成到貨商品清點後一鍵清除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不再顯示在商品清單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(d) </a:t>
            </a:r>
            <a:r>
              <a:rPr lang="zh-TW" altLang="en-US" sz="1400" b="1" dirty="0"/>
              <a:t>發貨</a:t>
            </a:r>
            <a:r>
              <a:rPr lang="en-US" altLang="zh-TW" sz="1400" b="1" dirty="0"/>
              <a:t> (</a:t>
            </a:r>
            <a:r>
              <a:rPr lang="zh-TW" altLang="en-US" sz="1400" b="1" dirty="0"/>
              <a:t>列印想要的</a:t>
            </a:r>
            <a:r>
              <a:rPr lang="en-US" altLang="zh-TW" sz="1400" b="1" dirty="0"/>
              <a:t>PDF</a:t>
            </a:r>
            <a:r>
              <a:rPr lang="zh-TW" altLang="en-US" sz="1400" b="1" dirty="0"/>
              <a:t>小紙張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</a:t>
            </a:r>
            <a:r>
              <a:rPr lang="zh-TW" altLang="en-US" sz="1400" b="1" dirty="0"/>
              <a:t> </a:t>
            </a:r>
            <a:r>
              <a:rPr lang="en-US" altLang="zh-TW" sz="1400" b="1" dirty="0"/>
              <a:t>1. </a:t>
            </a:r>
            <a:r>
              <a:rPr lang="zh-TW" altLang="en-US" sz="1400" b="1" dirty="0"/>
              <a:t>勾選要發貨的訂單</a:t>
            </a:r>
            <a:endParaRPr lang="en-US" altLang="zh-TW" sz="1400" b="1" dirty="0"/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 2. </a:t>
            </a:r>
            <a:r>
              <a:rPr lang="zh-TW" altLang="en-US" sz="1400" b="1" dirty="0">
                <a:sym typeface="Wingdings" panose="05000000000000000000" pitchFamily="2" charset="2"/>
              </a:rPr>
              <a:t>每個買家一小張 </a:t>
            </a:r>
            <a:r>
              <a:rPr lang="en-US" altLang="zh-TW" sz="1400" b="1" dirty="0">
                <a:sym typeface="Wingdings" panose="05000000000000000000" pitchFamily="2" charset="2"/>
              </a:rPr>
              <a:t>,</a:t>
            </a:r>
            <a:r>
              <a:rPr lang="zh-TW" altLang="en-US" sz="1400" b="1" dirty="0">
                <a:sym typeface="Wingdings" panose="05000000000000000000" pitchFamily="2" charset="2"/>
              </a:rPr>
              <a:t>內容</a:t>
            </a:r>
            <a:r>
              <a:rPr lang="en-US" altLang="zh-TW" sz="1400" b="1" dirty="0">
                <a:sym typeface="Wingdings" panose="05000000000000000000" pitchFamily="2" charset="2"/>
              </a:rPr>
              <a:t>:</a:t>
            </a:r>
            <a:r>
              <a:rPr lang="zh-TW" altLang="en-US" sz="1400" b="1" dirty="0">
                <a:sym typeface="Wingdings" panose="05000000000000000000" pitchFamily="2" charset="2"/>
              </a:rPr>
              <a:t>商品</a:t>
            </a:r>
            <a:r>
              <a:rPr lang="en-US" altLang="zh-TW" sz="1400" b="1" dirty="0">
                <a:sym typeface="Wingdings" panose="05000000000000000000" pitchFamily="2" charset="2"/>
              </a:rPr>
              <a:t>/</a:t>
            </a:r>
            <a:r>
              <a:rPr lang="zh-TW" altLang="en-US" sz="1400" b="1" dirty="0">
                <a:sym typeface="Wingdings" panose="05000000000000000000" pitchFamily="2" charset="2"/>
              </a:rPr>
              <a:t>規格</a:t>
            </a:r>
            <a:r>
              <a:rPr lang="en-US" altLang="zh-TW" sz="1400" b="1" dirty="0">
                <a:sym typeface="Wingdings" panose="05000000000000000000" pitchFamily="2" charset="2"/>
              </a:rPr>
              <a:t>/</a:t>
            </a:r>
            <a:r>
              <a:rPr lang="zh-TW" altLang="en-US" sz="1400" b="1" dirty="0">
                <a:sym typeface="Wingdings" panose="05000000000000000000" pitchFamily="2" charset="2"/>
              </a:rPr>
              <a:t>數量</a:t>
            </a:r>
            <a:r>
              <a:rPr lang="en-US" altLang="zh-TW" sz="1400" b="1" dirty="0">
                <a:sym typeface="Wingdings" panose="05000000000000000000" pitchFamily="2" charset="2"/>
              </a:rPr>
              <a:t>/</a:t>
            </a:r>
            <a:r>
              <a:rPr lang="zh-TW" altLang="en-US" sz="1400" b="1" dirty="0">
                <a:sym typeface="Wingdings" panose="05000000000000000000" pitchFamily="2" charset="2"/>
              </a:rPr>
              <a:t>價格小計</a:t>
            </a:r>
            <a:r>
              <a:rPr lang="en-US" altLang="zh-TW" sz="1400" b="1" dirty="0">
                <a:sym typeface="Wingdings" panose="05000000000000000000" pitchFamily="2" charset="2"/>
              </a:rPr>
              <a:t>(</a:t>
            </a:r>
            <a:r>
              <a:rPr lang="zh-TW" altLang="en-US" sz="1400" b="1" dirty="0">
                <a:sym typeface="Wingdings" panose="05000000000000000000" pitchFamily="2" charset="2"/>
              </a:rPr>
              <a:t>超過</a:t>
            </a:r>
            <a:r>
              <a:rPr lang="en-US" altLang="zh-TW" sz="1400" b="1" dirty="0">
                <a:sym typeface="Wingdings" panose="05000000000000000000" pitchFamily="2" charset="2"/>
              </a:rPr>
              <a:t>2</a:t>
            </a:r>
            <a:r>
              <a:rPr lang="zh-TW" altLang="en-US" sz="1400" b="1" dirty="0">
                <a:sym typeface="Wingdings" panose="05000000000000000000" pitchFamily="2" charset="2"/>
              </a:rPr>
              <a:t>張時</a:t>
            </a:r>
            <a:r>
              <a:rPr lang="en-US" altLang="zh-TW" sz="1400" b="1" dirty="0">
                <a:sym typeface="Wingdings" panose="05000000000000000000" pitchFamily="2" charset="2"/>
              </a:rPr>
              <a:t>)</a:t>
            </a:r>
            <a:r>
              <a:rPr lang="zh-TW" altLang="en-US" sz="1400" b="1" dirty="0">
                <a:sym typeface="Wingdings" panose="05000000000000000000" pitchFamily="2" charset="2"/>
              </a:rPr>
              <a:t>或總計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(e) </a:t>
            </a:r>
            <a:r>
              <a:rPr lang="zh-TW" altLang="en-US" sz="1400" b="1" dirty="0">
                <a:sym typeface="Wingdings" panose="05000000000000000000" pitchFamily="2" charset="2"/>
              </a:rPr>
              <a:t>廠商管理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1.</a:t>
            </a:r>
            <a:r>
              <a:rPr lang="zh-TW" altLang="en-US" sz="1400" b="1" dirty="0">
                <a:sym typeface="Wingdings" panose="05000000000000000000" pitchFamily="2" charset="2"/>
              </a:rPr>
              <a:t>輸入上架商品成本及實際訂購數量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2.</a:t>
            </a:r>
            <a:r>
              <a:rPr lang="zh-TW" altLang="en-US" sz="1400" b="1" dirty="0">
                <a:sym typeface="Wingdings" panose="05000000000000000000" pitchFamily="2" charset="2"/>
              </a:rPr>
              <a:t>查詢已訂未到貨商品列表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zh-TW" altLang="en-US" sz="1400" b="1" dirty="0">
                <a:sym typeface="Wingdings" panose="05000000000000000000" pitchFamily="2" charset="2"/>
              </a:rPr>
              <a:t>              </a:t>
            </a:r>
            <a:r>
              <a:rPr lang="en-US" altLang="zh-TW" sz="1400" b="1" dirty="0">
                <a:sym typeface="Wingdings" panose="05000000000000000000" pitchFamily="2" charset="2"/>
              </a:rPr>
              <a:t>3. </a:t>
            </a:r>
            <a:r>
              <a:rPr lang="zh-TW" altLang="en-US" sz="1400" b="1" dirty="0">
                <a:sym typeface="Wingdings" panose="05000000000000000000" pitchFamily="2" charset="2"/>
              </a:rPr>
              <a:t>列出</a:t>
            </a:r>
            <a:r>
              <a:rPr lang="en-US" altLang="zh-TW" sz="1400" b="1" dirty="0">
                <a:sym typeface="Wingdings" panose="05000000000000000000" pitchFamily="2" charset="2"/>
              </a:rPr>
              <a:t>PDF </a:t>
            </a:r>
            <a:r>
              <a:rPr lang="zh-TW" altLang="en-US" sz="1400" b="1" dirty="0">
                <a:sym typeface="Wingdings" panose="05000000000000000000" pitchFamily="2" charset="2"/>
              </a:rPr>
              <a:t>已結單商品</a:t>
            </a:r>
            <a:r>
              <a:rPr lang="en-US" altLang="zh-TW" sz="1400" b="1" dirty="0">
                <a:sym typeface="Wingdings" panose="05000000000000000000" pitchFamily="2" charset="2"/>
              </a:rPr>
              <a:t>(</a:t>
            </a:r>
            <a:r>
              <a:rPr lang="zh-TW" altLang="en-US" sz="1400" b="1" dirty="0">
                <a:sym typeface="Wingdings" panose="05000000000000000000" pitchFamily="2" charset="2"/>
              </a:rPr>
              <a:t>價錢</a:t>
            </a:r>
            <a:r>
              <a:rPr lang="en-US" altLang="zh-TW" sz="1400" b="1" dirty="0">
                <a:sym typeface="Wingdings" panose="05000000000000000000" pitchFamily="2" charset="2"/>
              </a:rPr>
              <a:t>,</a:t>
            </a:r>
            <a:r>
              <a:rPr lang="zh-TW" altLang="en-US" sz="1400" b="1" dirty="0">
                <a:sym typeface="Wingdings" panose="05000000000000000000" pitchFamily="2" charset="2"/>
              </a:rPr>
              <a:t>總數量</a:t>
            </a:r>
            <a:r>
              <a:rPr lang="en-US" altLang="zh-TW" sz="1400" b="1" dirty="0">
                <a:sym typeface="Wingdings" panose="05000000000000000000" pitchFamily="2" charset="2"/>
              </a:rPr>
              <a:t>) </a:t>
            </a:r>
            <a:r>
              <a:rPr lang="zh-TW" altLang="en-US" sz="1400" b="1" dirty="0">
                <a:sym typeface="Wingdings" panose="05000000000000000000" pitchFamily="2" charset="2"/>
              </a:rPr>
              <a:t>要依此商品列表向廠商訂貨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4.</a:t>
            </a:r>
            <a:r>
              <a:rPr lang="zh-TW" altLang="en-US" sz="1400" b="1" dirty="0">
                <a:sym typeface="Wingdings" panose="05000000000000000000" pitchFamily="2" charset="2"/>
              </a:rPr>
              <a:t>查詢已斷貨商品列表</a:t>
            </a:r>
            <a:r>
              <a:rPr lang="en-US" altLang="zh-TW" sz="1400" b="1" dirty="0">
                <a:sym typeface="Wingdings" panose="05000000000000000000" pitchFamily="2" charset="2"/>
              </a:rPr>
              <a:t>(</a:t>
            </a:r>
            <a:r>
              <a:rPr lang="zh-TW" altLang="en-US" sz="1400" b="1" dirty="0">
                <a:sym typeface="Wingdings" panose="05000000000000000000" pitchFamily="2" charset="2"/>
              </a:rPr>
              <a:t>向廠商結款斷貨商品</a:t>
            </a:r>
            <a:r>
              <a:rPr lang="en-US" altLang="zh-TW" sz="1400" b="1" dirty="0">
                <a:sym typeface="Wingdings" panose="05000000000000000000" pitchFamily="2" charset="2"/>
              </a:rPr>
              <a:t>)</a:t>
            </a: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5.</a:t>
            </a:r>
            <a:r>
              <a:rPr lang="zh-TW" altLang="en-US" sz="1400" b="1" dirty="0">
                <a:sym typeface="Wingdings" panose="05000000000000000000" pitchFamily="2" charset="2"/>
              </a:rPr>
              <a:t>點選已結清斷貨商品</a:t>
            </a:r>
            <a:r>
              <a:rPr lang="en-US" altLang="zh-TW" sz="1400" b="1" dirty="0">
                <a:sym typeface="Wingdings" panose="05000000000000000000" pitchFamily="2" charset="2"/>
              </a:rPr>
              <a:t>,</a:t>
            </a:r>
            <a:r>
              <a:rPr lang="zh-TW" altLang="en-US" sz="1400" b="1" dirty="0">
                <a:sym typeface="Wingdings" panose="05000000000000000000" pitchFamily="2" charset="2"/>
              </a:rPr>
              <a:t>結清後不再列進斷貨商品列表</a:t>
            </a:r>
            <a:r>
              <a:rPr lang="en-US" altLang="zh-TW" sz="1400" b="1" dirty="0">
                <a:sym typeface="Wingdings" panose="05000000000000000000" pitchFamily="2" charset="2"/>
              </a:rPr>
              <a:t>(</a:t>
            </a:r>
            <a:r>
              <a:rPr lang="zh-TW" altLang="en-US" sz="1400" b="1" dirty="0">
                <a:sym typeface="Wingdings" panose="05000000000000000000" pitchFamily="2" charset="2"/>
              </a:rPr>
              <a:t>隱藏</a:t>
            </a:r>
            <a:r>
              <a:rPr lang="en-US" altLang="zh-TW" sz="1400" b="1" dirty="0">
                <a:sym typeface="Wingdings" panose="05000000000000000000" pitchFamily="2" charset="2"/>
              </a:rPr>
              <a:t>)</a:t>
            </a:r>
            <a:endParaRPr lang="zh-TW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9206267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0853"/>
            <a:ext cx="6858000" cy="601672"/>
          </a:xfrm>
          <a:prstGeom prst="rect">
            <a:avLst/>
          </a:prstGeom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62525"/>
            <a:ext cx="6858000" cy="646002"/>
          </a:xfrm>
          <a:prstGeom prst="rect">
            <a:avLst/>
          </a:prstGeom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76133"/>
            <a:ext cx="6858000" cy="757451"/>
          </a:xfrm>
          <a:prstGeom prst="rect">
            <a:avLst/>
          </a:prstGeom>
        </p:spPr>
      </p:pic>
      <p:pic>
        <p:nvPicPr>
          <p:cNvPr id="7" name="圖片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233585"/>
            <a:ext cx="6642857" cy="800000"/>
          </a:xfrm>
          <a:prstGeom prst="rect">
            <a:avLst/>
          </a:prstGeo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80492"/>
            <a:ext cx="5235714" cy="771428"/>
          </a:xfrm>
          <a:prstGeom prst="rect">
            <a:avLst/>
          </a:prstGeom>
        </p:spPr>
      </p:pic>
      <p:sp>
        <p:nvSpPr>
          <p:cNvPr id="13" name="文字方塊 12"/>
          <p:cNvSpPr txBox="1"/>
          <p:nvPr/>
        </p:nvSpPr>
        <p:spPr>
          <a:xfrm>
            <a:off x="2492896" y="-39229"/>
            <a:ext cx="113729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b="1" dirty="0">
                <a:solidFill>
                  <a:srgbClr val="0070C0"/>
                </a:solidFill>
              </a:rPr>
              <a:t>Google Sheet</a:t>
            </a:r>
            <a:endParaRPr lang="zh-TW" altLang="en-US" sz="1350" b="1" dirty="0">
              <a:solidFill>
                <a:srgbClr val="0070C0"/>
              </a:solidFill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D408DAFA-1B92-7C95-34F5-E72C2D69ABDF}"/>
              </a:ext>
            </a:extLst>
          </p:cNvPr>
          <p:cNvGrpSpPr/>
          <p:nvPr/>
        </p:nvGrpSpPr>
        <p:grpSpPr>
          <a:xfrm>
            <a:off x="84552" y="4211960"/>
            <a:ext cx="6473754" cy="4825498"/>
            <a:chOff x="173709" y="295863"/>
            <a:chExt cx="6473754" cy="4825498"/>
          </a:xfrm>
        </p:grpSpPr>
        <p:pic>
          <p:nvPicPr>
            <p:cNvPr id="3" name="圖片 2">
              <a:extLst>
                <a:ext uri="{FF2B5EF4-FFF2-40B4-BE49-F238E27FC236}">
                  <a16:creationId xmlns:a16="http://schemas.microsoft.com/office/drawing/2014/main" id="{405B0C76-FC18-B637-B95D-1083B565A7C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280" y="879554"/>
              <a:ext cx="1455508" cy="2977679"/>
            </a:xfrm>
            <a:prstGeom prst="rect">
              <a:avLst/>
            </a:prstGeom>
          </p:spPr>
        </p:pic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E58CF7B8-9C81-AFF9-A43A-5459623C8D03}"/>
                </a:ext>
              </a:extLst>
            </p:cNvPr>
            <p:cNvSpPr txBox="1"/>
            <p:nvPr/>
          </p:nvSpPr>
          <p:spPr>
            <a:xfrm>
              <a:off x="173709" y="295864"/>
              <a:ext cx="1859805" cy="300082"/>
            </a:xfrm>
            <a:prstGeom prst="rect">
              <a:avLst/>
            </a:prstGeom>
            <a:solidFill>
              <a:srgbClr val="FFFF00"/>
            </a:solidFill>
          </p:spPr>
          <p:txBody>
            <a:bodyPr wrap="none" rtlCol="0">
              <a:spAutoFit/>
            </a:bodyPr>
            <a:lstStyle/>
            <a:p>
              <a:r>
                <a:rPr lang="zh-TW" altLang="en-US" sz="1350" b="1" dirty="0">
                  <a:solidFill>
                    <a:srgbClr val="FF0000"/>
                  </a:solidFill>
                </a:rPr>
                <a:t>本機 </a:t>
              </a:r>
              <a:r>
                <a:rPr lang="en-US" altLang="zh-TW" sz="1350" b="1" dirty="0" err="1">
                  <a:solidFill>
                    <a:srgbClr val="FF0000"/>
                  </a:solidFill>
                </a:rPr>
                <a:t>Phonmain</a:t>
              </a:r>
              <a:r>
                <a:rPr lang="en-US" altLang="zh-TW" sz="1350" b="1" dirty="0">
                  <a:solidFill>
                    <a:srgbClr val="FF0000"/>
                  </a:solidFill>
                </a:rPr>
                <a:t> </a:t>
              </a:r>
              <a:r>
                <a:rPr lang="zh-TW" altLang="en-US" sz="1350" b="1" dirty="0">
                  <a:solidFill>
                    <a:srgbClr val="FF0000"/>
                  </a:solidFill>
                </a:rPr>
                <a:t>根目錄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BD5CEC3-2C63-DDDE-CEC7-CF4E5EAA0D4C}"/>
                </a:ext>
              </a:extLst>
            </p:cNvPr>
            <p:cNvCxnSpPr/>
            <p:nvPr/>
          </p:nvCxnSpPr>
          <p:spPr>
            <a:xfrm>
              <a:off x="1548325" y="1331640"/>
              <a:ext cx="396000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單箭頭接點 14">
              <a:extLst>
                <a:ext uri="{FF2B5EF4-FFF2-40B4-BE49-F238E27FC236}">
                  <a16:creationId xmlns:a16="http://schemas.microsoft.com/office/drawing/2014/main" id="{33BEF131-D493-C05F-820D-60E25DDAED5E}"/>
                </a:ext>
              </a:extLst>
            </p:cNvPr>
            <p:cNvCxnSpPr/>
            <p:nvPr/>
          </p:nvCxnSpPr>
          <p:spPr>
            <a:xfrm>
              <a:off x="1067563" y="1619672"/>
              <a:ext cx="432048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肘形接點 27">
              <a:extLst>
                <a:ext uri="{FF2B5EF4-FFF2-40B4-BE49-F238E27FC236}">
                  <a16:creationId xmlns:a16="http://schemas.microsoft.com/office/drawing/2014/main" id="{5BABC4F3-5962-7131-0584-408D91D6D616}"/>
                </a:ext>
              </a:extLst>
            </p:cNvPr>
            <p:cNvCxnSpPr>
              <a:cxnSpLocks/>
            </p:cNvCxnSpPr>
            <p:nvPr/>
          </p:nvCxnSpPr>
          <p:spPr>
            <a:xfrm>
              <a:off x="1082732" y="1927963"/>
              <a:ext cx="1455508" cy="115434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單箭頭接點 16">
              <a:extLst>
                <a:ext uri="{FF2B5EF4-FFF2-40B4-BE49-F238E27FC236}">
                  <a16:creationId xmlns:a16="http://schemas.microsoft.com/office/drawing/2014/main" id="{420755E3-EB5D-0B85-859A-074843772498}"/>
                </a:ext>
              </a:extLst>
            </p:cNvPr>
            <p:cNvCxnSpPr/>
            <p:nvPr/>
          </p:nvCxnSpPr>
          <p:spPr>
            <a:xfrm>
              <a:off x="836712" y="595946"/>
              <a:ext cx="0" cy="24651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肘形接點 40">
              <a:extLst>
                <a:ext uri="{FF2B5EF4-FFF2-40B4-BE49-F238E27FC236}">
                  <a16:creationId xmlns:a16="http://schemas.microsoft.com/office/drawing/2014/main" id="{32B29F09-79AB-8DBB-1C85-6C90E1E3A5A7}"/>
                </a:ext>
              </a:extLst>
            </p:cNvPr>
            <p:cNvCxnSpPr>
              <a:cxnSpLocks/>
            </p:cNvCxnSpPr>
            <p:nvPr/>
          </p:nvCxnSpPr>
          <p:spPr>
            <a:xfrm>
              <a:off x="1159912" y="2214044"/>
              <a:ext cx="2889689" cy="1492432"/>
            </a:xfrm>
            <a:prstGeom prst="bentConnector3">
              <a:avLst>
                <a:gd name="adj1" fmla="val 44140"/>
              </a:avLst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單箭頭接點 18">
              <a:extLst>
                <a:ext uri="{FF2B5EF4-FFF2-40B4-BE49-F238E27FC236}">
                  <a16:creationId xmlns:a16="http://schemas.microsoft.com/office/drawing/2014/main" id="{F1B7BF54-F6C2-4C76-319E-7F06CE98D2EC}"/>
                </a:ext>
              </a:extLst>
            </p:cNvPr>
            <p:cNvCxnSpPr/>
            <p:nvPr/>
          </p:nvCxnSpPr>
          <p:spPr>
            <a:xfrm>
              <a:off x="887587" y="2513441"/>
              <a:ext cx="432048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" name="圖片 19">
              <a:extLst>
                <a:ext uri="{FF2B5EF4-FFF2-40B4-BE49-F238E27FC236}">
                  <a16:creationId xmlns:a16="http://schemas.microsoft.com/office/drawing/2014/main" id="{2165DD2C-0794-D907-5410-EB59DCA9388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325" y="1167253"/>
              <a:ext cx="1262848" cy="300082"/>
            </a:xfrm>
            <a:prstGeom prst="rect">
              <a:avLst/>
            </a:prstGeom>
          </p:spPr>
        </p:pic>
        <p:cxnSp>
          <p:nvCxnSpPr>
            <p:cNvPr id="21" name="直線單箭頭接點 20">
              <a:extLst>
                <a:ext uri="{FF2B5EF4-FFF2-40B4-BE49-F238E27FC236}">
                  <a16:creationId xmlns:a16="http://schemas.microsoft.com/office/drawing/2014/main" id="{30C38612-BB1A-6AEE-4E34-FBAC35B6CE98}"/>
                </a:ext>
              </a:extLst>
            </p:cNvPr>
            <p:cNvCxnSpPr/>
            <p:nvPr/>
          </p:nvCxnSpPr>
          <p:spPr>
            <a:xfrm>
              <a:off x="1103611" y="1043608"/>
              <a:ext cx="396000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2" name="圖片 21">
              <a:extLst>
                <a:ext uri="{FF2B5EF4-FFF2-40B4-BE49-F238E27FC236}">
                  <a16:creationId xmlns:a16="http://schemas.microsoft.com/office/drawing/2014/main" id="{FA4C5856-8DB1-0BA4-18C9-3067FD345DB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48325" y="889122"/>
              <a:ext cx="936521" cy="283134"/>
            </a:xfrm>
            <a:prstGeom prst="rect">
              <a:avLst/>
            </a:prstGeom>
          </p:spPr>
        </p:pic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EEAD33F3-15F8-3E7A-9833-0EEB66D5A63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449139" y="1449516"/>
              <a:ext cx="560459" cy="432759"/>
            </a:xfrm>
            <a:prstGeom prst="rect">
              <a:avLst/>
            </a:prstGeom>
          </p:spPr>
        </p:pic>
        <p:cxnSp>
          <p:nvCxnSpPr>
            <p:cNvPr id="24" name="直線單箭頭接點 23">
              <a:extLst>
                <a:ext uri="{FF2B5EF4-FFF2-40B4-BE49-F238E27FC236}">
                  <a16:creationId xmlns:a16="http://schemas.microsoft.com/office/drawing/2014/main" id="{5CC55BE7-28FC-13C8-2E50-27EC44C260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90538" y="1619672"/>
              <a:ext cx="2520000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5" name="圖片 24">
              <a:extLst>
                <a:ext uri="{FF2B5EF4-FFF2-40B4-BE49-F238E27FC236}">
                  <a16:creationId xmlns:a16="http://schemas.microsoft.com/office/drawing/2014/main" id="{3FA6DAE3-22A6-B07C-858B-9566F1D5950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58249" y="2305198"/>
              <a:ext cx="984846" cy="528235"/>
            </a:xfrm>
            <a:prstGeom prst="rect">
              <a:avLst/>
            </a:prstGeom>
          </p:spPr>
        </p:pic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0955305B-C51F-E833-B0D5-F28CE57FBA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69494" y="1695214"/>
              <a:ext cx="1480107" cy="1219967"/>
            </a:xfrm>
            <a:prstGeom prst="rect">
              <a:avLst/>
            </a:prstGeom>
          </p:spPr>
        </p:pic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E42FFE4B-C8FC-4FD6-26D2-CDE3B12751A2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66707" y="2593104"/>
              <a:ext cx="1327124" cy="2528257"/>
            </a:xfrm>
            <a:prstGeom prst="rect">
              <a:avLst/>
            </a:prstGeom>
          </p:spPr>
        </p:pic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57C34D73-539C-6703-FDA8-04B6C2A393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22321" y="295863"/>
              <a:ext cx="2025142" cy="221757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864445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12" t="46001" r="87484" b="40889"/>
          <a:stretch/>
        </p:blipFill>
        <p:spPr>
          <a:xfrm>
            <a:off x="150224" y="635386"/>
            <a:ext cx="594067" cy="324036"/>
          </a:xfrm>
          <a:prstGeom prst="rect">
            <a:avLst/>
          </a:prstGeom>
        </p:spPr>
      </p:pic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17" t="69920" r="67535" b="16970"/>
          <a:stretch/>
        </p:blipFill>
        <p:spPr>
          <a:xfrm>
            <a:off x="287855" y="2768835"/>
            <a:ext cx="486055" cy="324036"/>
          </a:xfrm>
          <a:prstGeom prst="rect">
            <a:avLst/>
          </a:prstGeom>
        </p:spPr>
      </p:pic>
      <p:sp>
        <p:nvSpPr>
          <p:cNvPr id="7" name="文字方塊 6"/>
          <p:cNvSpPr txBox="1"/>
          <p:nvPr/>
        </p:nvSpPr>
        <p:spPr>
          <a:xfrm>
            <a:off x="233849" y="214243"/>
            <a:ext cx="157126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50" b="1" dirty="0"/>
              <a:t>Line </a:t>
            </a:r>
            <a:r>
              <a:rPr lang="zh-TW" altLang="en-US" sz="1050" b="1" dirty="0"/>
              <a:t>選單畫面 </a:t>
            </a:r>
            <a:r>
              <a:rPr lang="en-US" altLang="zh-TW" sz="1050" b="1" dirty="0"/>
              <a:t>(4</a:t>
            </a:r>
            <a:r>
              <a:rPr lang="zh-TW" altLang="en-US" sz="1050" b="1" dirty="0"/>
              <a:t>個按鈕</a:t>
            </a:r>
            <a:r>
              <a:rPr lang="en-US" altLang="zh-TW" sz="1050" b="1" dirty="0"/>
              <a:t>)</a:t>
            </a:r>
            <a:endParaRPr lang="zh-TW" altLang="en-US" sz="1050" b="1" dirty="0"/>
          </a:p>
        </p:txBody>
      </p:sp>
      <p:pic>
        <p:nvPicPr>
          <p:cNvPr id="10" name="圖片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69" t="44371" r="77627" b="42519"/>
          <a:stretch/>
        </p:blipFill>
        <p:spPr>
          <a:xfrm>
            <a:off x="179843" y="1267608"/>
            <a:ext cx="594066" cy="324036"/>
          </a:xfrm>
          <a:prstGeom prst="rect">
            <a:avLst/>
          </a:prstGeom>
        </p:spPr>
      </p:pic>
      <p:pic>
        <p:nvPicPr>
          <p:cNvPr id="11" name="圖片 10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45" t="43815" r="66923" b="40890"/>
          <a:stretch/>
        </p:blipFill>
        <p:spPr>
          <a:xfrm>
            <a:off x="172000" y="1972028"/>
            <a:ext cx="648072" cy="378042"/>
          </a:xfrm>
          <a:prstGeom prst="rect">
            <a:avLst/>
          </a:prstGeom>
        </p:spPr>
      </p:pic>
      <p:cxnSp>
        <p:nvCxnSpPr>
          <p:cNvPr id="15" name="直線單箭頭接點 14"/>
          <p:cNvCxnSpPr/>
          <p:nvPr/>
        </p:nvCxnSpPr>
        <p:spPr>
          <a:xfrm>
            <a:off x="820072" y="1514056"/>
            <a:ext cx="2752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單箭頭接點 20"/>
          <p:cNvCxnSpPr/>
          <p:nvPr/>
        </p:nvCxnSpPr>
        <p:spPr>
          <a:xfrm>
            <a:off x="820072" y="811978"/>
            <a:ext cx="3470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/>
          <p:cNvCxnSpPr/>
          <p:nvPr/>
        </p:nvCxnSpPr>
        <p:spPr>
          <a:xfrm>
            <a:off x="820072" y="2142427"/>
            <a:ext cx="2752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單箭頭接點 22"/>
          <p:cNvCxnSpPr/>
          <p:nvPr/>
        </p:nvCxnSpPr>
        <p:spPr>
          <a:xfrm>
            <a:off x="820072" y="2930853"/>
            <a:ext cx="2752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379451" y="2567138"/>
            <a:ext cx="2624007" cy="39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zh-TW" sz="975" b="1" kern="100" dirty="0">
                <a:solidFill>
                  <a:srgbClr val="538135"/>
                </a:solidFill>
                <a:latin typeface="Segoe UI Symbol" panose="020B0502040204020203" pitchFamily="34" charset="0"/>
                <a:cs typeface="Segoe UI Symbol" panose="020B0502040204020203" pitchFamily="34" charset="0"/>
              </a:rPr>
              <a:t>管理員入口選單（第一層）</a:t>
            </a:r>
            <a:r>
              <a:rPr lang="en-US" altLang="zh-TW" sz="975" b="1" kern="100" dirty="0">
                <a:solidFill>
                  <a:srgbClr val="538135"/>
                </a:solidFill>
                <a:latin typeface="Segoe UI Symbol" panose="020B0502040204020203" pitchFamily="34" charset="0"/>
                <a:cs typeface="Segoe UI Symbol" panose="020B0502040204020203" pitchFamily="34" charset="0"/>
              </a:rPr>
              <a:t>&lt;*</a:t>
            </a:r>
            <a:r>
              <a:rPr lang="zh-TW" altLang="en-US" sz="975" b="1" kern="100" dirty="0">
                <a:solidFill>
                  <a:srgbClr val="538135"/>
                </a:solidFill>
                <a:latin typeface="Segoe UI Symbol" panose="020B0502040204020203" pitchFamily="34" charset="0"/>
                <a:cs typeface="Segoe UI Symbol" panose="020B0502040204020203" pitchFamily="34" charset="0"/>
              </a:rPr>
              <a:t>買家不能進入</a:t>
            </a:r>
            <a:r>
              <a:rPr lang="en-US" altLang="zh-TW" sz="975" b="1" kern="100" dirty="0">
                <a:solidFill>
                  <a:srgbClr val="538135"/>
                </a:solidFill>
                <a:latin typeface="Segoe UI Symbol" panose="020B0502040204020203" pitchFamily="34" charset="0"/>
                <a:cs typeface="Segoe UI Symbol" panose="020B0502040204020203" pitchFamily="34" charset="0"/>
              </a:rPr>
              <a:t>&gt;</a:t>
            </a:r>
            <a:endParaRPr lang="zh-TW" altLang="zh-TW" sz="900" kern="100" dirty="0"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6" name="直線單箭頭接點 25"/>
          <p:cNvCxnSpPr/>
          <p:nvPr/>
        </p:nvCxnSpPr>
        <p:spPr>
          <a:xfrm>
            <a:off x="2277469" y="2930853"/>
            <a:ext cx="6480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圖片 2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196" y="2800511"/>
            <a:ext cx="1088273" cy="1141301"/>
          </a:xfrm>
          <a:prstGeom prst="rect">
            <a:avLst/>
          </a:prstGeom>
        </p:spPr>
      </p:pic>
      <p:cxnSp>
        <p:nvCxnSpPr>
          <p:cNvPr id="30" name="直線單箭頭接點 29"/>
          <p:cNvCxnSpPr/>
          <p:nvPr/>
        </p:nvCxnSpPr>
        <p:spPr>
          <a:xfrm>
            <a:off x="3903642" y="2864206"/>
            <a:ext cx="10801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圖片 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1096" y="2094406"/>
            <a:ext cx="1545470" cy="1348857"/>
          </a:xfrm>
          <a:prstGeom prst="rect">
            <a:avLst/>
          </a:prstGeom>
        </p:spPr>
      </p:pic>
      <p:pic>
        <p:nvPicPr>
          <p:cNvPr id="41" name="圖片 4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9741" y="2700504"/>
            <a:ext cx="1138527" cy="662998"/>
          </a:xfrm>
          <a:prstGeom prst="rect">
            <a:avLst/>
          </a:prstGeom>
        </p:spPr>
      </p:pic>
      <p:pic>
        <p:nvPicPr>
          <p:cNvPr id="42" name="圖片 4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8298" y="3404295"/>
            <a:ext cx="1911262" cy="662998"/>
          </a:xfrm>
          <a:prstGeom prst="rect">
            <a:avLst/>
          </a:prstGeom>
        </p:spPr>
      </p:pic>
      <p:cxnSp>
        <p:nvCxnSpPr>
          <p:cNvPr id="44" name="肘形接點 43"/>
          <p:cNvCxnSpPr/>
          <p:nvPr/>
        </p:nvCxnSpPr>
        <p:spPr>
          <a:xfrm>
            <a:off x="2277469" y="3110641"/>
            <a:ext cx="1061571" cy="616571"/>
          </a:xfrm>
          <a:prstGeom prst="bentConnector3">
            <a:avLst>
              <a:gd name="adj1" fmla="val 5565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8" name="圖片 4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4205" y="3425667"/>
            <a:ext cx="1586621" cy="251482"/>
          </a:xfrm>
          <a:prstGeom prst="rect">
            <a:avLst/>
          </a:prstGeom>
        </p:spPr>
      </p:pic>
      <p:cxnSp>
        <p:nvCxnSpPr>
          <p:cNvPr id="53" name="直線單箭頭接點 52"/>
          <p:cNvCxnSpPr/>
          <p:nvPr/>
        </p:nvCxnSpPr>
        <p:spPr>
          <a:xfrm>
            <a:off x="4748821" y="3534804"/>
            <a:ext cx="3522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圖片 5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5752" y="3818356"/>
            <a:ext cx="1412870" cy="246910"/>
          </a:xfrm>
          <a:prstGeom prst="rect">
            <a:avLst/>
          </a:prstGeom>
        </p:spPr>
      </p:pic>
      <p:cxnSp>
        <p:nvCxnSpPr>
          <p:cNvPr id="57" name="直線單箭頭接點 56"/>
          <p:cNvCxnSpPr/>
          <p:nvPr/>
        </p:nvCxnSpPr>
        <p:spPr>
          <a:xfrm>
            <a:off x="5231419" y="3924610"/>
            <a:ext cx="2752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/>
          <p:cNvCxnSpPr/>
          <p:nvPr/>
        </p:nvCxnSpPr>
        <p:spPr>
          <a:xfrm>
            <a:off x="2213631" y="3285565"/>
            <a:ext cx="1956197" cy="1035341"/>
          </a:xfrm>
          <a:prstGeom prst="bentConnector3">
            <a:avLst>
              <a:gd name="adj1" fmla="val 3071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圖片 6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59038" y="4046174"/>
            <a:ext cx="1449449" cy="525826"/>
          </a:xfrm>
          <a:prstGeom prst="rect">
            <a:avLst/>
          </a:prstGeom>
        </p:spPr>
      </p:pic>
      <p:pic>
        <p:nvPicPr>
          <p:cNvPr id="67" name="圖片 6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9163" y="469001"/>
            <a:ext cx="1937882" cy="874348"/>
          </a:xfrm>
          <a:prstGeom prst="rect">
            <a:avLst/>
          </a:prstGeom>
        </p:spPr>
      </p:pic>
      <p:pic>
        <p:nvPicPr>
          <p:cNvPr id="68" name="圖片 6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9196" y="1384142"/>
            <a:ext cx="1024434" cy="386888"/>
          </a:xfrm>
          <a:prstGeom prst="rect">
            <a:avLst/>
          </a:prstGeom>
        </p:spPr>
      </p:pic>
      <p:pic>
        <p:nvPicPr>
          <p:cNvPr id="69" name="圖片 6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67152" y="1847669"/>
            <a:ext cx="1000967" cy="644240"/>
          </a:xfrm>
          <a:prstGeom prst="rect">
            <a:avLst/>
          </a:prstGeom>
        </p:spPr>
      </p:pic>
      <p:pic>
        <p:nvPicPr>
          <p:cNvPr id="70" name="圖片 69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53104" y="4628851"/>
            <a:ext cx="2025572" cy="393226"/>
          </a:xfrm>
          <a:prstGeom prst="rect">
            <a:avLst/>
          </a:prstGeom>
        </p:spPr>
      </p:pic>
      <p:cxnSp>
        <p:nvCxnSpPr>
          <p:cNvPr id="71" name="肘形接點 70"/>
          <p:cNvCxnSpPr>
            <a:endCxn id="70" idx="1"/>
          </p:cNvCxnSpPr>
          <p:nvPr/>
        </p:nvCxnSpPr>
        <p:spPr>
          <a:xfrm>
            <a:off x="1937030" y="3449269"/>
            <a:ext cx="2316074" cy="1376195"/>
          </a:xfrm>
          <a:prstGeom prst="bentConnector3">
            <a:avLst>
              <a:gd name="adj1" fmla="val 3334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9" name="圖片 78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79450" y="4000477"/>
            <a:ext cx="2057579" cy="1216258"/>
          </a:xfrm>
          <a:prstGeom prst="rect">
            <a:avLst/>
          </a:prstGeom>
        </p:spPr>
      </p:pic>
      <p:cxnSp>
        <p:nvCxnSpPr>
          <p:cNvPr id="81" name="肘形接點 80"/>
          <p:cNvCxnSpPr/>
          <p:nvPr/>
        </p:nvCxnSpPr>
        <p:spPr>
          <a:xfrm rot="5400000">
            <a:off x="856246" y="3688096"/>
            <a:ext cx="434738" cy="276601"/>
          </a:xfrm>
          <a:prstGeom prst="bentConnector3">
            <a:avLst>
              <a:gd name="adj1" fmla="val 703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右大括弧 84"/>
          <p:cNvSpPr/>
          <p:nvPr/>
        </p:nvSpPr>
        <p:spPr>
          <a:xfrm>
            <a:off x="3095067" y="797404"/>
            <a:ext cx="322521" cy="1372385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sz="1350" b="1" dirty="0"/>
          </a:p>
        </p:txBody>
      </p:sp>
      <p:pic>
        <p:nvPicPr>
          <p:cNvPr id="87" name="圖片 86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978337" y="3818356"/>
            <a:ext cx="727011" cy="246910"/>
          </a:xfrm>
          <a:prstGeom prst="rect">
            <a:avLst/>
          </a:prstGeom>
        </p:spPr>
      </p:pic>
      <p:cxnSp>
        <p:nvCxnSpPr>
          <p:cNvPr id="89" name="肘形接點 88"/>
          <p:cNvCxnSpPr/>
          <p:nvPr/>
        </p:nvCxnSpPr>
        <p:spPr>
          <a:xfrm>
            <a:off x="1834131" y="3854296"/>
            <a:ext cx="193932" cy="94446"/>
          </a:xfrm>
          <a:prstGeom prst="bentConnector3">
            <a:avLst>
              <a:gd name="adj1" fmla="val -2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矩形 93"/>
          <p:cNvSpPr/>
          <p:nvPr/>
        </p:nvSpPr>
        <p:spPr>
          <a:xfrm>
            <a:off x="3481471" y="1384142"/>
            <a:ext cx="944489" cy="24237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zh-TW" sz="975" b="1" dirty="0">
                <a:solidFill>
                  <a:srgbClr val="538135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買家</a:t>
            </a:r>
            <a:r>
              <a:rPr lang="en-US" altLang="zh-TW" sz="975" b="1" dirty="0">
                <a:solidFill>
                  <a:srgbClr val="538135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 LIFF </a:t>
            </a:r>
            <a:r>
              <a:rPr lang="zh-TW" altLang="zh-TW" sz="975" b="1" dirty="0">
                <a:solidFill>
                  <a:srgbClr val="538135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頁</a:t>
            </a:r>
            <a:r>
              <a:rPr lang="zh-TW" altLang="en-US" sz="975" b="1" dirty="0">
                <a:solidFill>
                  <a:srgbClr val="538135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面</a:t>
            </a:r>
            <a:endParaRPr lang="zh-TW" altLang="en-US" sz="1350" dirty="0"/>
          </a:p>
        </p:txBody>
      </p:sp>
      <p:pic>
        <p:nvPicPr>
          <p:cNvPr id="96" name="圖片 95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5567" y="870645"/>
            <a:ext cx="845969" cy="263552"/>
          </a:xfrm>
          <a:prstGeom prst="rect">
            <a:avLst/>
          </a:prstGeom>
        </p:spPr>
      </p:pic>
      <p:pic>
        <p:nvPicPr>
          <p:cNvPr id="97" name="圖片 96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171" y="1540205"/>
            <a:ext cx="1087142" cy="232344"/>
          </a:xfrm>
          <a:prstGeom prst="rect">
            <a:avLst/>
          </a:prstGeom>
        </p:spPr>
      </p:pic>
      <p:pic>
        <p:nvPicPr>
          <p:cNvPr id="98" name="圖片 97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4522" y="2275350"/>
            <a:ext cx="1184388" cy="256842"/>
          </a:xfrm>
          <a:prstGeom prst="rect">
            <a:avLst/>
          </a:prstGeom>
        </p:spPr>
      </p:pic>
      <p:pic>
        <p:nvPicPr>
          <p:cNvPr id="99" name="圖片 98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022" y="3016287"/>
            <a:ext cx="1280077" cy="230414"/>
          </a:xfrm>
          <a:prstGeom prst="rect">
            <a:avLst/>
          </a:prstGeom>
        </p:spPr>
      </p:pic>
      <p:pic>
        <p:nvPicPr>
          <p:cNvPr id="100" name="圖片 99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169828" y="179971"/>
            <a:ext cx="2523539" cy="1191672"/>
          </a:xfrm>
          <a:prstGeom prst="rect">
            <a:avLst/>
          </a:prstGeom>
        </p:spPr>
      </p:pic>
      <p:sp>
        <p:nvSpPr>
          <p:cNvPr id="2" name="文字方塊 1"/>
          <p:cNvSpPr txBox="1"/>
          <p:nvPr/>
        </p:nvSpPr>
        <p:spPr>
          <a:xfrm>
            <a:off x="1207311" y="1668866"/>
            <a:ext cx="198644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900" b="1" dirty="0"/>
              <a:t>刪除訂單</a:t>
            </a:r>
            <a:r>
              <a:rPr lang="en-US" altLang="zh-TW" sz="900" b="1" dirty="0">
                <a:solidFill>
                  <a:srgbClr val="FF0000"/>
                </a:solidFill>
              </a:rPr>
              <a:t>(</a:t>
            </a:r>
            <a:r>
              <a:rPr lang="zh-TW" altLang="en-US" sz="900" b="1" dirty="0">
                <a:solidFill>
                  <a:srgbClr val="FF0000"/>
                </a:solidFill>
              </a:rPr>
              <a:t>當管理員按結單後則無效</a:t>
            </a:r>
            <a:r>
              <a:rPr lang="en-US" altLang="zh-TW" sz="900" b="1" dirty="0">
                <a:solidFill>
                  <a:srgbClr val="FF0000"/>
                </a:solidFill>
              </a:rPr>
              <a:t>)</a:t>
            </a:r>
            <a:endParaRPr lang="zh-TW" altLang="en-US" sz="9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7542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28" y="2000250"/>
            <a:ext cx="372641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7055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2150"/>
          <a:stretch/>
        </p:blipFill>
        <p:spPr>
          <a:xfrm>
            <a:off x="0" y="2000251"/>
            <a:ext cx="4862304" cy="3562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8365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1295"/>
          <a:stretch/>
        </p:blipFill>
        <p:spPr>
          <a:xfrm>
            <a:off x="6412" y="1975701"/>
            <a:ext cx="3852443" cy="1890210"/>
          </a:xfrm>
          <a:prstGeom prst="rect">
            <a:avLst/>
          </a:prstGeom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62" y="3865911"/>
            <a:ext cx="3884792" cy="3246859"/>
          </a:xfrm>
          <a:prstGeom prst="rect">
            <a:avLst/>
          </a:prstGeom>
        </p:spPr>
      </p:pic>
      <p:cxnSp>
        <p:nvCxnSpPr>
          <p:cNvPr id="7" name="肘形接點 6"/>
          <p:cNvCxnSpPr>
            <a:stCxn id="11" idx="2"/>
          </p:cNvCxnSpPr>
          <p:nvPr/>
        </p:nvCxnSpPr>
        <p:spPr>
          <a:xfrm rot="5400000">
            <a:off x="1201253" y="3235352"/>
            <a:ext cx="756084" cy="729081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/>
          <p:cNvSpPr/>
          <p:nvPr/>
        </p:nvSpPr>
        <p:spPr>
          <a:xfrm>
            <a:off x="1106742" y="2951820"/>
            <a:ext cx="1674186" cy="27003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</p:spTree>
    <p:extLst>
      <p:ext uri="{BB962C8B-B14F-4D97-AF65-F5344CB8AC3E}">
        <p14:creationId xmlns:p14="http://schemas.microsoft.com/office/powerpoint/2010/main" val="32753675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640" y="2005408"/>
            <a:ext cx="5842857" cy="1550000"/>
          </a:xfrm>
          <a:prstGeom prst="rect">
            <a:avLst/>
          </a:prstGeom>
        </p:spPr>
      </p:pic>
      <p:sp>
        <p:nvSpPr>
          <p:cNvPr id="5" name="文字方塊 4"/>
          <p:cNvSpPr txBox="1"/>
          <p:nvPr/>
        </p:nvSpPr>
        <p:spPr>
          <a:xfrm>
            <a:off x="188640" y="3653899"/>
            <a:ext cx="5955476" cy="11310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350" dirty="0"/>
              <a:t>一般大多數版主都是從</a:t>
            </a:r>
            <a:r>
              <a:rPr lang="en-US" altLang="zh-TW" sz="1350" dirty="0"/>
              <a:t>Line </a:t>
            </a:r>
            <a:r>
              <a:rPr lang="zh-TW" altLang="en-US" sz="1350" dirty="0"/>
              <a:t>直接</a:t>
            </a:r>
            <a:r>
              <a:rPr lang="en-US" altLang="zh-TW" sz="1350" dirty="0"/>
              <a:t>PO</a:t>
            </a:r>
            <a:r>
              <a:rPr lang="zh-TW" altLang="en-US" sz="1350" dirty="0"/>
              <a:t>商品在記事本內</a:t>
            </a:r>
            <a:r>
              <a:rPr lang="en-US" altLang="zh-TW" sz="1350" dirty="0"/>
              <a:t>,</a:t>
            </a:r>
            <a:r>
              <a:rPr lang="zh-TW" altLang="en-US" sz="1350" dirty="0"/>
              <a:t>只會修改到價錢及結單日</a:t>
            </a:r>
            <a:endParaRPr lang="en-US" altLang="zh-TW" sz="1350" dirty="0"/>
          </a:p>
          <a:p>
            <a:r>
              <a:rPr lang="zh-TW" altLang="en-US" sz="1350" dirty="0"/>
              <a:t>以這套系統來看</a:t>
            </a:r>
            <a:r>
              <a:rPr lang="en-US" altLang="zh-TW" sz="1350" dirty="0"/>
              <a:t>,</a:t>
            </a:r>
            <a:r>
              <a:rPr lang="zh-TW" altLang="en-US" sz="1350" dirty="0"/>
              <a:t>則需要開啓</a:t>
            </a:r>
            <a:r>
              <a:rPr lang="en-US" altLang="zh-TW" sz="1350" dirty="0"/>
              <a:t>Google sheet</a:t>
            </a:r>
            <a:r>
              <a:rPr lang="zh-TW" altLang="en-US" sz="1350" dirty="0"/>
              <a:t>並將商品建立在</a:t>
            </a:r>
            <a:r>
              <a:rPr lang="en-US" altLang="zh-TW" sz="1350" dirty="0"/>
              <a:t>Products sheet</a:t>
            </a:r>
            <a:r>
              <a:rPr lang="zh-TW" altLang="en-US" sz="1350" dirty="0"/>
              <a:t>內</a:t>
            </a:r>
            <a:endParaRPr lang="en-US" altLang="zh-TW" sz="1350" dirty="0"/>
          </a:p>
          <a:p>
            <a:r>
              <a:rPr lang="zh-TW" altLang="en-US" sz="1350" dirty="0"/>
              <a:t>目前於</a:t>
            </a:r>
            <a:r>
              <a:rPr lang="en-US" altLang="zh-TW" sz="1350" dirty="0"/>
              <a:t>Products Sheet</a:t>
            </a:r>
            <a:r>
              <a:rPr lang="zh-TW" altLang="en-US" sz="1350" dirty="0"/>
              <a:t>內要手動輸入的欄位為</a:t>
            </a:r>
            <a:r>
              <a:rPr lang="en-US" altLang="zh-TW" sz="1350" dirty="0"/>
              <a:t>A,B,C,D,F</a:t>
            </a:r>
          </a:p>
          <a:p>
            <a:r>
              <a:rPr lang="en-US" altLang="zh-TW" sz="1350" dirty="0"/>
              <a:t>1) </a:t>
            </a:r>
            <a:r>
              <a:rPr lang="zh-TW" altLang="en-US" sz="1350" dirty="0"/>
              <a:t>是否有</a:t>
            </a:r>
            <a:endParaRPr lang="en-US" altLang="zh-TW" sz="1350" dirty="0"/>
          </a:p>
          <a:p>
            <a:r>
              <a:rPr lang="zh-TW" altLang="en-US" sz="1350" dirty="0"/>
              <a:t>商品代碼是否可以由系統產生</a:t>
            </a:r>
            <a:r>
              <a:rPr lang="en-US" altLang="zh-TW" sz="1350" dirty="0"/>
              <a:t>,</a:t>
            </a:r>
            <a:r>
              <a:rPr lang="zh-TW" altLang="en-US" sz="1350" dirty="0"/>
              <a:t>這樣版主可以不用想代碼或輸入到重覆的代碼</a:t>
            </a:r>
          </a:p>
        </p:txBody>
      </p:sp>
    </p:spTree>
    <p:extLst>
      <p:ext uri="{BB962C8B-B14F-4D97-AF65-F5344CB8AC3E}">
        <p14:creationId xmlns:p14="http://schemas.microsoft.com/office/powerpoint/2010/main" val="29854185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/>
          <p:cNvPicPr>
            <a:picLocks noChangeAspect="1"/>
          </p:cNvPicPr>
          <p:nvPr/>
        </p:nvPicPr>
        <p:blipFill rotWithShape="1">
          <a:blip r:embed="rId2"/>
          <a:srcRect b="12201"/>
          <a:stretch/>
        </p:blipFill>
        <p:spPr>
          <a:xfrm>
            <a:off x="3560277" y="2004110"/>
            <a:ext cx="3297723" cy="3996444"/>
          </a:xfrm>
          <a:prstGeom prst="rect">
            <a:avLst/>
          </a:prstGeom>
        </p:spPr>
      </p:pic>
      <p:pic>
        <p:nvPicPr>
          <p:cNvPr id="3" name="圖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5916"/>
            <a:ext cx="3131586" cy="1976998"/>
          </a:xfrm>
          <a:prstGeom prst="rect">
            <a:avLst/>
          </a:prstGeom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45890"/>
            <a:ext cx="3131586" cy="1976998"/>
          </a:xfrm>
          <a:prstGeom prst="rect">
            <a:avLst/>
          </a:prstGeom>
        </p:spPr>
      </p:pic>
      <p:sp>
        <p:nvSpPr>
          <p:cNvPr id="5" name="橢圓 4"/>
          <p:cNvSpPr/>
          <p:nvPr/>
        </p:nvSpPr>
        <p:spPr>
          <a:xfrm>
            <a:off x="1430778" y="3329862"/>
            <a:ext cx="540060" cy="27003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7" name="直線單箭頭接點 6"/>
          <p:cNvCxnSpPr/>
          <p:nvPr/>
        </p:nvCxnSpPr>
        <p:spPr>
          <a:xfrm flipH="1">
            <a:off x="1430778" y="3599892"/>
            <a:ext cx="270030" cy="113412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橢圓 7"/>
          <p:cNvSpPr/>
          <p:nvPr/>
        </p:nvSpPr>
        <p:spPr>
          <a:xfrm>
            <a:off x="1159055" y="4848849"/>
            <a:ext cx="540060" cy="27003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10" name="直線單箭頭接點 9"/>
          <p:cNvCxnSpPr/>
          <p:nvPr/>
        </p:nvCxnSpPr>
        <p:spPr>
          <a:xfrm flipV="1">
            <a:off x="1699116" y="4562429"/>
            <a:ext cx="1783891" cy="42143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圖片 11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470"/>
          <a:stretch/>
        </p:blipFill>
        <p:spPr>
          <a:xfrm>
            <a:off x="11618" y="5730377"/>
            <a:ext cx="2823316" cy="1328417"/>
          </a:xfrm>
          <a:prstGeom prst="rect">
            <a:avLst/>
          </a:prstGeom>
        </p:spPr>
      </p:pic>
      <p:sp>
        <p:nvSpPr>
          <p:cNvPr id="13" name="矩形 12"/>
          <p:cNvSpPr/>
          <p:nvPr/>
        </p:nvSpPr>
        <p:spPr>
          <a:xfrm>
            <a:off x="620688" y="5730378"/>
            <a:ext cx="810090" cy="19177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15" name="直線單箭頭接點 14"/>
          <p:cNvCxnSpPr/>
          <p:nvPr/>
        </p:nvCxnSpPr>
        <p:spPr>
          <a:xfrm>
            <a:off x="1322766" y="5907745"/>
            <a:ext cx="54006" cy="4966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/>
        </p:nvSpPr>
        <p:spPr>
          <a:xfrm>
            <a:off x="3320988" y="6394586"/>
            <a:ext cx="3429000" cy="5078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TW" sz="900" dirty="0"/>
              <a:t>Messaging API </a:t>
            </a:r>
            <a:r>
              <a:rPr lang="zh-TW" altLang="en-US" sz="900" dirty="0"/>
              <a:t>錯誤訊息</a:t>
            </a:r>
            <a:endParaRPr lang="en-US" altLang="zh-TW" sz="900" dirty="0"/>
          </a:p>
          <a:p>
            <a:r>
              <a:rPr lang="zh-TW" altLang="en-US" sz="900" dirty="0"/>
              <a:t>您無法再將 </a:t>
            </a:r>
            <a:r>
              <a:rPr lang="en-US" altLang="zh-TW" sz="900" dirty="0"/>
              <a:t>LIFF </a:t>
            </a:r>
            <a:r>
              <a:rPr lang="zh-TW" altLang="en-US" sz="900" dirty="0"/>
              <a:t>應用程式新增至 </a:t>
            </a:r>
            <a:r>
              <a:rPr lang="en-US" altLang="zh-TW" sz="900" dirty="0"/>
              <a:t>Messaging API </a:t>
            </a:r>
            <a:r>
              <a:rPr lang="zh-TW" altLang="en-US" sz="900" dirty="0"/>
              <a:t>通道。請改用 </a:t>
            </a:r>
            <a:r>
              <a:rPr lang="en-US" altLang="zh-TW" sz="900" dirty="0"/>
              <a:t>LINE </a:t>
            </a:r>
            <a:r>
              <a:rPr lang="zh-TW" altLang="en-US" sz="900" dirty="0"/>
              <a:t>登入頻道。</a:t>
            </a:r>
          </a:p>
        </p:txBody>
      </p:sp>
      <p:cxnSp>
        <p:nvCxnSpPr>
          <p:cNvPr id="18" name="直線單箭頭接點 17"/>
          <p:cNvCxnSpPr>
            <a:stCxn id="16" idx="1"/>
          </p:cNvCxnSpPr>
          <p:nvPr/>
        </p:nvCxnSpPr>
        <p:spPr>
          <a:xfrm flipH="1" flipV="1">
            <a:off x="2456892" y="6462211"/>
            <a:ext cx="864096" cy="1862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28517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621" y="2000250"/>
            <a:ext cx="3539380" cy="3844061"/>
          </a:xfrm>
          <a:prstGeom prst="rect">
            <a:avLst/>
          </a:prstGeom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1389" y="2000251"/>
            <a:ext cx="3561324" cy="3867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5619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群組 27"/>
          <p:cNvGrpSpPr/>
          <p:nvPr/>
        </p:nvGrpSpPr>
        <p:grpSpPr>
          <a:xfrm>
            <a:off x="0" y="4153657"/>
            <a:ext cx="6858000" cy="1543065"/>
            <a:chOff x="-5099" y="3503059"/>
            <a:chExt cx="6858000" cy="1543065"/>
          </a:xfrm>
        </p:grpSpPr>
        <p:sp>
          <p:nvSpPr>
            <p:cNvPr id="21" name="矩形 20"/>
            <p:cNvSpPr/>
            <p:nvPr/>
          </p:nvSpPr>
          <p:spPr>
            <a:xfrm>
              <a:off x="-5099" y="4307690"/>
              <a:ext cx="14157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zh-TW" sz="12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向廠商下單的紀錄</a:t>
              </a:r>
              <a:endParaRPr lang="zh-TW" altLang="zh-TW" sz="12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矩形 21"/>
            <p:cNvSpPr/>
            <p:nvPr/>
          </p:nvSpPr>
          <p:spPr>
            <a:xfrm>
              <a:off x="-5099" y="4523050"/>
              <a:ext cx="850404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zh-TW" sz="900" b="1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對應前端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r>
                <a:rPr lang="zh-TW" altLang="zh-TW" sz="900" kern="0" dirty="0">
                  <a:cs typeface="新細明體" panose="02020500000000000000" pitchFamily="18" charset="-120"/>
                </a:rPr>
                <a:t>廠商進貨頁</a:t>
              </a:r>
              <a:endParaRPr lang="zh-TW" altLang="en-US" sz="900" dirty="0"/>
            </a:p>
          </p:txBody>
        </p:sp>
        <p:sp>
          <p:nvSpPr>
            <p:cNvPr id="23" name="矩形 22"/>
            <p:cNvSpPr/>
            <p:nvPr/>
          </p:nvSpPr>
          <p:spPr>
            <a:xfrm>
              <a:off x="845305" y="4538293"/>
              <a:ext cx="1930524" cy="5078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zh-TW" sz="900" b="1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對應後端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spcAft>
                  <a:spcPts val="0"/>
                </a:spcAft>
                <a:tabLst>
                  <a:tab pos="581660" algn="l"/>
                  <a:tab pos="1163320" algn="l"/>
                  <a:tab pos="1744980" algn="l"/>
                  <a:tab pos="2326640" algn="l"/>
                  <a:tab pos="2908300" algn="l"/>
                  <a:tab pos="3489960" algn="l"/>
                  <a:tab pos="4071620" algn="l"/>
                  <a:tab pos="4653280" algn="l"/>
                  <a:tab pos="5234940" algn="l"/>
                  <a:tab pos="5816600" algn="l"/>
                  <a:tab pos="6398260" algn="l"/>
                  <a:tab pos="6979920" algn="l"/>
                  <a:tab pos="7561580" algn="l"/>
                  <a:tab pos="8143240" algn="l"/>
                  <a:tab pos="8724900" algn="l"/>
                  <a:tab pos="9306560" algn="l"/>
                </a:tabLst>
              </a:pPr>
              <a:r>
                <a:rPr lang="en-US" altLang="zh-TW" sz="900" kern="0" dirty="0">
                  <a:latin typeface="細明體" panose="02020509000000000000" pitchFamily="49" charset="-120"/>
                  <a:cs typeface="細明體" panose="02020509000000000000" pitchFamily="49" charset="-120"/>
                </a:rPr>
                <a:t>routes/vendorOrderRoutes.js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r>
                <a:rPr lang="en-US" altLang="zh-TW" sz="900" kern="0" dirty="0">
                  <a:latin typeface="細明體" panose="02020509000000000000" pitchFamily="49" charset="-120"/>
                  <a:cs typeface="細明體" panose="02020509000000000000" pitchFamily="49" charset="-120"/>
                </a:rPr>
                <a:t>services/vendorOrderService.js</a:t>
              </a:r>
              <a:endParaRPr lang="zh-TW" altLang="en-US" sz="900" dirty="0"/>
            </a:p>
          </p:txBody>
        </p:sp>
        <p:pic>
          <p:nvPicPr>
            <p:cNvPr id="27" name="圖片 26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5099" y="3503059"/>
              <a:ext cx="6858000" cy="859377"/>
            </a:xfrm>
            <a:prstGeom prst="rect">
              <a:avLst/>
            </a:prstGeom>
          </p:spPr>
        </p:pic>
      </p:grpSp>
      <p:grpSp>
        <p:nvGrpSpPr>
          <p:cNvPr id="30" name="群組 29"/>
          <p:cNvGrpSpPr/>
          <p:nvPr/>
        </p:nvGrpSpPr>
        <p:grpSpPr>
          <a:xfrm>
            <a:off x="0" y="5717793"/>
            <a:ext cx="6858000" cy="1681343"/>
            <a:chOff x="27384" y="5300336"/>
            <a:chExt cx="6858000" cy="1681343"/>
          </a:xfrm>
        </p:grpSpPr>
        <p:sp>
          <p:nvSpPr>
            <p:cNvPr id="16" name="矩形 15"/>
            <p:cNvSpPr/>
            <p:nvPr/>
          </p:nvSpPr>
          <p:spPr>
            <a:xfrm>
              <a:off x="199498" y="6431376"/>
              <a:ext cx="1183337" cy="5252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TW" altLang="zh-TW" sz="1013" b="1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對應前端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 marL="257175" indent="-257175">
                <a:buSzPts val="1000"/>
                <a:buFont typeface="Symbol" panose="05050102010706020507" pitchFamily="18" charset="2"/>
                <a:buChar char=""/>
                <a:tabLst>
                  <a:tab pos="342900" algn="l"/>
                </a:tabLst>
              </a:pP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現貨出清頁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 marL="257175" indent="-257175">
                <a:buSzPts val="1000"/>
                <a:buFont typeface="Symbol" panose="05050102010706020507" pitchFamily="18" charset="2"/>
                <a:buChar char=""/>
                <a:tabLst>
                  <a:tab pos="342900" algn="l"/>
                </a:tabLst>
              </a:pPr>
              <a:r>
                <a:rPr lang="en-US" altLang="zh-TW" sz="900" kern="0" dirty="0">
                  <a:latin typeface="新細明體" panose="02020500000000000000" pitchFamily="18" charset="-120"/>
                  <a:cs typeface="新細明體" panose="02020500000000000000" pitchFamily="18" charset="-120"/>
                </a:rPr>
                <a:t>LINE </a:t>
              </a: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搶購按鈕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矩形 17"/>
            <p:cNvSpPr/>
            <p:nvPr/>
          </p:nvSpPr>
          <p:spPr>
            <a:xfrm>
              <a:off x="125169" y="6103473"/>
              <a:ext cx="2185214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TW" altLang="zh-TW" sz="1200" kern="0" dirty="0">
                  <a:cs typeface="新細明體" panose="02020500000000000000" pitchFamily="18" charset="-120"/>
                </a:rPr>
                <a:t>現貨出清商品池（庫存主檔）</a:t>
              </a:r>
              <a:endParaRPr lang="zh-TW" altLang="en-US" dirty="0"/>
            </a:p>
          </p:txBody>
        </p:sp>
        <p:sp>
          <p:nvSpPr>
            <p:cNvPr id="19" name="矩形 18"/>
            <p:cNvSpPr/>
            <p:nvPr/>
          </p:nvSpPr>
          <p:spPr>
            <a:xfrm>
              <a:off x="1382835" y="6335348"/>
              <a:ext cx="3429000" cy="646331"/>
            </a:xfrm>
            <a:prstGeom prst="rect">
              <a:avLst/>
            </a:prstGeom>
          </p:spPr>
          <p:txBody>
            <a:bodyPr>
              <a:spAutoFit/>
            </a:bodyPr>
            <a:lstStyle/>
            <a:p>
              <a:pPr>
                <a:spcAft>
                  <a:spcPts val="0"/>
                </a:spcAft>
                <a:tabLst>
                  <a:tab pos="1405890" algn="l"/>
                </a:tabLst>
              </a:pPr>
              <a:r>
                <a:rPr lang="zh-TW" altLang="zh-TW" sz="900" b="1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對應後端</a:t>
              </a:r>
              <a:r>
                <a:rPr lang="en-US" altLang="zh-TW" sz="900" b="1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	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spcAft>
                  <a:spcPts val="0"/>
                </a:spcAft>
                <a:tabLst>
                  <a:tab pos="581660" algn="l"/>
                  <a:tab pos="1163320" algn="l"/>
                  <a:tab pos="1744980" algn="l"/>
                  <a:tab pos="2326640" algn="l"/>
                  <a:tab pos="2908300" algn="l"/>
                  <a:tab pos="3489960" algn="l"/>
                  <a:tab pos="4071620" algn="l"/>
                  <a:tab pos="4653280" algn="l"/>
                  <a:tab pos="5234940" algn="l"/>
                  <a:tab pos="5816600" algn="l"/>
                  <a:tab pos="6398260" algn="l"/>
                  <a:tab pos="6979920" algn="l"/>
                  <a:tab pos="7561580" algn="l"/>
                  <a:tab pos="8143240" algn="l"/>
                  <a:tab pos="8724900" algn="l"/>
                  <a:tab pos="9306560" algn="l"/>
                </a:tabLst>
              </a:pPr>
              <a:r>
                <a:rPr lang="en-US" altLang="zh-TW" sz="900" kern="0" dirty="0">
                  <a:latin typeface="細明體" panose="02020509000000000000" pitchFamily="49" charset="-120"/>
                  <a:cs typeface="細明體" panose="02020509000000000000" pitchFamily="49" charset="-120"/>
                </a:rPr>
                <a:t>routes/overstockRoutes.js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spcAft>
                  <a:spcPts val="0"/>
                </a:spcAft>
                <a:tabLst>
                  <a:tab pos="581660" algn="l"/>
                  <a:tab pos="1163320" algn="l"/>
                  <a:tab pos="1744980" algn="l"/>
                  <a:tab pos="2326640" algn="l"/>
                  <a:tab pos="2908300" algn="l"/>
                  <a:tab pos="3489960" algn="l"/>
                  <a:tab pos="4071620" algn="l"/>
                  <a:tab pos="4653280" algn="l"/>
                  <a:tab pos="5234940" algn="l"/>
                  <a:tab pos="5816600" algn="l"/>
                  <a:tab pos="6398260" algn="l"/>
                  <a:tab pos="6979920" algn="l"/>
                  <a:tab pos="7561580" algn="l"/>
                  <a:tab pos="8143240" algn="l"/>
                  <a:tab pos="8724900" algn="l"/>
                  <a:tab pos="9306560" algn="l"/>
                </a:tabLst>
              </a:pPr>
              <a:r>
                <a:rPr lang="en-US" altLang="zh-TW" sz="900" kern="0" dirty="0">
                  <a:latin typeface="細明體" panose="02020509000000000000" pitchFamily="49" charset="-120"/>
                  <a:cs typeface="細明體" panose="02020509000000000000" pitchFamily="49" charset="-120"/>
                </a:rPr>
                <a:t>services/overstockService.js   ← </a:t>
              </a:r>
              <a:r>
                <a:rPr lang="zh-TW" altLang="zh-TW" sz="900" kern="0" dirty="0">
                  <a:latin typeface="Calibri" panose="020F0502020204030204" pitchFamily="34" charset="0"/>
                  <a:ea typeface="細明體" panose="02020509000000000000" pitchFamily="49" charset="-120"/>
                  <a:cs typeface="細明體" panose="02020509000000000000" pitchFamily="49" charset="-120"/>
                </a:rPr>
                <a:t>核心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r>
                <a:rPr lang="en-US" altLang="zh-TW" sz="900" kern="0" dirty="0" err="1">
                  <a:latin typeface="細明體" panose="02020509000000000000" pitchFamily="49" charset="-120"/>
                  <a:cs typeface="細明體" panose="02020509000000000000" pitchFamily="49" charset="-120"/>
                </a:rPr>
                <a:t>buyOverstockItem</a:t>
              </a:r>
              <a:r>
                <a:rPr lang="en-US" altLang="zh-TW" sz="900" kern="0" dirty="0">
                  <a:latin typeface="細明體" panose="02020509000000000000" pitchFamily="49" charset="-120"/>
                  <a:cs typeface="細明體" panose="02020509000000000000" pitchFamily="49" charset="-120"/>
                </a:rPr>
                <a:t>()</a:t>
              </a:r>
              <a:r>
                <a:rPr lang="en-US" altLang="zh-TW" sz="900" kern="0" dirty="0">
                  <a:latin typeface="新細明體" panose="02020500000000000000" pitchFamily="18" charset="-120"/>
                  <a:cs typeface="新細明體" panose="02020500000000000000" pitchFamily="18" charset="-120"/>
                </a:rPr>
                <a:t> </a:t>
              </a:r>
              <a:r>
                <a:rPr lang="zh-TW" altLang="zh-TW" sz="900" kern="0" dirty="0">
                  <a:cs typeface="新細明體" panose="02020500000000000000" pitchFamily="18" charset="-120"/>
                </a:rPr>
                <a:t>就在這裡</a:t>
              </a:r>
              <a:endParaRPr lang="zh-TW" altLang="en-US" sz="900" dirty="0"/>
            </a:p>
          </p:txBody>
        </p:sp>
        <p:pic>
          <p:nvPicPr>
            <p:cNvPr id="29" name="圖片 28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384" y="5300336"/>
              <a:ext cx="6858000" cy="809801"/>
            </a:xfrm>
            <a:prstGeom prst="rect">
              <a:avLst/>
            </a:prstGeom>
          </p:spPr>
        </p:pic>
      </p:grpSp>
      <p:grpSp>
        <p:nvGrpSpPr>
          <p:cNvPr id="32" name="群組 31"/>
          <p:cNvGrpSpPr/>
          <p:nvPr/>
        </p:nvGrpSpPr>
        <p:grpSpPr>
          <a:xfrm>
            <a:off x="6950" y="7399136"/>
            <a:ext cx="6858000" cy="1571531"/>
            <a:chOff x="6950" y="7399136"/>
            <a:chExt cx="6858000" cy="1571531"/>
          </a:xfrm>
        </p:grpSpPr>
        <p:sp>
          <p:nvSpPr>
            <p:cNvPr id="13" name="矩形 12"/>
            <p:cNvSpPr/>
            <p:nvPr/>
          </p:nvSpPr>
          <p:spPr>
            <a:xfrm>
              <a:off x="116632" y="8245583"/>
              <a:ext cx="2545043" cy="2308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zh-TW" altLang="zh-TW" sz="900" kern="0" dirty="0">
                  <a:cs typeface="新細明體" panose="02020500000000000000" pitchFamily="18" charset="-120"/>
                </a:rPr>
                <a:t>現貨出清訂單紀錄（成功搶到才寫）</a:t>
              </a:r>
              <a:endParaRPr lang="zh-TW" altLang="en-US" sz="1350" dirty="0"/>
            </a:p>
          </p:txBody>
        </p:sp>
        <p:sp>
          <p:nvSpPr>
            <p:cNvPr id="14" name="矩形 13"/>
            <p:cNvSpPr/>
            <p:nvPr/>
          </p:nvSpPr>
          <p:spPr>
            <a:xfrm>
              <a:off x="116632" y="8462836"/>
              <a:ext cx="1691600" cy="5078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zh-TW" altLang="zh-TW" sz="900" b="1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對應前端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 marL="257175" indent="-257175">
                <a:buSzPts val="1000"/>
                <a:buFont typeface="Symbol" panose="05050102010706020507" pitchFamily="18" charset="2"/>
                <a:buChar char=""/>
                <a:tabLst>
                  <a:tab pos="342900" algn="l"/>
                </a:tabLst>
              </a:pP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搶購成功列表頁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 marL="257175" indent="-257175">
                <a:buSzPts val="1000"/>
                <a:buFont typeface="Symbol" panose="05050102010706020507" pitchFamily="18" charset="2"/>
                <a:buChar char=""/>
                <a:tabLst>
                  <a:tab pos="342900" algn="l"/>
                </a:tabLst>
              </a:pP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出清訂單管理頁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矩形 14"/>
            <p:cNvSpPr/>
            <p:nvPr/>
          </p:nvSpPr>
          <p:spPr>
            <a:xfrm>
              <a:off x="2192653" y="8461365"/>
              <a:ext cx="2621742" cy="5078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zh-TW" altLang="zh-TW" sz="900" b="1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對應後端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tabLst>
                  <a:tab pos="436245" algn="l"/>
                  <a:tab pos="872490" algn="l"/>
                  <a:tab pos="1308735" algn="l"/>
                  <a:tab pos="1744980" algn="l"/>
                  <a:tab pos="2181225" algn="l"/>
                  <a:tab pos="2617470" algn="l"/>
                  <a:tab pos="3053715" algn="l"/>
                  <a:tab pos="3489960" algn="l"/>
                  <a:tab pos="3926205" algn="l"/>
                  <a:tab pos="4362450" algn="l"/>
                  <a:tab pos="4798695" algn="l"/>
                  <a:tab pos="5234940" algn="l"/>
                  <a:tab pos="5671185" algn="l"/>
                  <a:tab pos="6107430" algn="l"/>
                  <a:tab pos="6543675" algn="l"/>
                  <a:tab pos="6979920" algn="l"/>
                </a:tabLst>
              </a:pPr>
              <a:r>
                <a:rPr lang="en-US" altLang="zh-TW" sz="900" kern="0" dirty="0">
                  <a:latin typeface="細明體" panose="02020509000000000000" pitchFamily="49" charset="-120"/>
                  <a:cs typeface="細明體" panose="02020509000000000000" pitchFamily="49" charset="-120"/>
                </a:rPr>
                <a:t>services/overstockService.js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tabLst>
                  <a:tab pos="436245" algn="l"/>
                  <a:tab pos="872490" algn="l"/>
                  <a:tab pos="1308735" algn="l"/>
                  <a:tab pos="1744980" algn="l"/>
                  <a:tab pos="2181225" algn="l"/>
                  <a:tab pos="2617470" algn="l"/>
                  <a:tab pos="3053715" algn="l"/>
                  <a:tab pos="3489960" algn="l"/>
                  <a:tab pos="3926205" algn="l"/>
                  <a:tab pos="4362450" algn="l"/>
                  <a:tab pos="4798695" algn="l"/>
                  <a:tab pos="5234940" algn="l"/>
                  <a:tab pos="5671185" algn="l"/>
                  <a:tab pos="6107430" algn="l"/>
                  <a:tab pos="6543675" algn="l"/>
                  <a:tab pos="6979920" algn="l"/>
                </a:tabLst>
              </a:pPr>
              <a:r>
                <a:rPr lang="en-US" altLang="zh-TW" sz="900" kern="0" dirty="0">
                  <a:latin typeface="細明體" panose="02020509000000000000" pitchFamily="49" charset="-120"/>
                  <a:cs typeface="細明體" panose="02020509000000000000" pitchFamily="49" charset="-120"/>
                </a:rPr>
                <a:t>services/overstockNotifyService.js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pic>
          <p:nvPicPr>
            <p:cNvPr id="31" name="圖片 30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50" y="7399136"/>
              <a:ext cx="6858000" cy="847807"/>
            </a:xfrm>
            <a:prstGeom prst="rect">
              <a:avLst/>
            </a:prstGeom>
          </p:spPr>
        </p:pic>
      </p:grpSp>
      <p:grpSp>
        <p:nvGrpSpPr>
          <p:cNvPr id="36" name="群組 35"/>
          <p:cNvGrpSpPr/>
          <p:nvPr/>
        </p:nvGrpSpPr>
        <p:grpSpPr>
          <a:xfrm>
            <a:off x="0" y="2891233"/>
            <a:ext cx="6858000" cy="1199616"/>
            <a:chOff x="6950" y="1815517"/>
            <a:chExt cx="6858000" cy="1199616"/>
          </a:xfrm>
        </p:grpSpPr>
        <p:pic>
          <p:nvPicPr>
            <p:cNvPr id="26" name="圖片 25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50" y="1815517"/>
              <a:ext cx="6858000" cy="568923"/>
            </a:xfrm>
            <a:prstGeom prst="rect">
              <a:avLst/>
            </a:prstGeom>
          </p:spPr>
        </p:pic>
        <p:sp>
          <p:nvSpPr>
            <p:cNvPr id="33" name="矩形 32"/>
            <p:cNvSpPr/>
            <p:nvPr/>
          </p:nvSpPr>
          <p:spPr>
            <a:xfrm>
              <a:off x="74524" y="2414258"/>
              <a:ext cx="1341248" cy="5078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彙總：是統計頁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 marL="342900" lvl="0" indent="-342900">
                <a:spcAft>
                  <a:spcPts val="0"/>
                </a:spcAft>
                <a:buSzPts val="1000"/>
                <a:buFont typeface="Symbol" panose="05050102010706020507" pitchFamily="18" charset="2"/>
                <a:buChar char=""/>
                <a:tabLst>
                  <a:tab pos="457200" algn="l"/>
                </a:tabLst>
              </a:pP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訂購數量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 marL="342900" lvl="0" indent="-342900">
                <a:spcAft>
                  <a:spcPts val="0"/>
                </a:spcAft>
                <a:buSzPts val="1000"/>
                <a:buFont typeface="Symbol" panose="05050102010706020507" pitchFamily="18" charset="2"/>
                <a:buChar char=""/>
                <a:tabLst>
                  <a:tab pos="457200" algn="l"/>
                </a:tabLst>
              </a:pP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到貨數量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1389153" y="2507302"/>
              <a:ext cx="1203494" cy="5078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zh-TW" sz="900" b="1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對應前端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 lvl="0">
                <a:spcAft>
                  <a:spcPts val="0"/>
                </a:spcAft>
                <a:buSzPts val="1000"/>
                <a:tabLst>
                  <a:tab pos="457200" algn="l"/>
                </a:tabLst>
              </a:pP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庫存統計頁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r>
                <a:rPr lang="zh-TW" altLang="zh-TW" sz="900" kern="0" dirty="0">
                  <a:cs typeface="新細明體" panose="02020500000000000000" pitchFamily="18" charset="-120"/>
                </a:rPr>
                <a:t>成本報表頁</a:t>
              </a:r>
              <a:endParaRPr lang="zh-TW" altLang="en-US" sz="900" dirty="0"/>
            </a:p>
          </p:txBody>
        </p:sp>
        <p:sp>
          <p:nvSpPr>
            <p:cNvPr id="35" name="矩形 34"/>
            <p:cNvSpPr/>
            <p:nvPr/>
          </p:nvSpPr>
          <p:spPr>
            <a:xfrm>
              <a:off x="3078253" y="2491856"/>
              <a:ext cx="18002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zh-TW" sz="900" b="1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對應後端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spcAft>
                  <a:spcPts val="0"/>
                </a:spcAft>
                <a:tabLst>
                  <a:tab pos="581660" algn="l"/>
                  <a:tab pos="1163320" algn="l"/>
                  <a:tab pos="1744980" algn="l"/>
                  <a:tab pos="2326640" algn="l"/>
                  <a:tab pos="2908300" algn="l"/>
                  <a:tab pos="3489960" algn="l"/>
                  <a:tab pos="4071620" algn="l"/>
                  <a:tab pos="4653280" algn="l"/>
                  <a:tab pos="5234940" algn="l"/>
                  <a:tab pos="5816600" algn="l"/>
                  <a:tab pos="6398260" algn="l"/>
                  <a:tab pos="6979920" algn="l"/>
                  <a:tab pos="7561580" algn="l"/>
                  <a:tab pos="8143240" algn="l"/>
                  <a:tab pos="8724900" algn="l"/>
                  <a:tab pos="9306560" algn="l"/>
                </a:tabLst>
              </a:pPr>
              <a:r>
                <a:rPr lang="en-US" altLang="zh-TW" sz="900" kern="0" dirty="0">
                  <a:latin typeface="細明體" panose="02020509000000000000" pitchFamily="49" charset="-120"/>
                  <a:cs typeface="細明體" panose="02020509000000000000" pitchFamily="49" charset="-120"/>
                </a:rPr>
                <a:t>services/summaryService.js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40" name="群組 39"/>
          <p:cNvGrpSpPr/>
          <p:nvPr/>
        </p:nvGrpSpPr>
        <p:grpSpPr>
          <a:xfrm>
            <a:off x="-69205" y="1661644"/>
            <a:ext cx="6934155" cy="1219053"/>
            <a:chOff x="-69205" y="998768"/>
            <a:chExt cx="6934155" cy="1219053"/>
          </a:xfrm>
        </p:grpSpPr>
        <p:pic>
          <p:nvPicPr>
            <p:cNvPr id="25" name="圖片 24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50" y="998768"/>
              <a:ext cx="6858000" cy="666089"/>
            </a:xfrm>
            <a:prstGeom prst="rect">
              <a:avLst/>
            </a:prstGeom>
          </p:spPr>
        </p:pic>
        <p:sp>
          <p:nvSpPr>
            <p:cNvPr id="37" name="矩形 36"/>
            <p:cNvSpPr/>
            <p:nvPr/>
          </p:nvSpPr>
          <p:spPr>
            <a:xfrm>
              <a:off x="-69205" y="1633569"/>
              <a:ext cx="149271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一般訂單（非現貨搶購</a:t>
              </a:r>
              <a:r>
                <a:rPr lang="zh-TW" altLang="zh-TW" sz="12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）</a:t>
              </a:r>
              <a:endParaRPr lang="zh-TW" altLang="zh-TW" sz="12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38" name="矩形 37"/>
            <p:cNvSpPr/>
            <p:nvPr/>
          </p:nvSpPr>
          <p:spPr>
            <a:xfrm>
              <a:off x="1199550" y="1709990"/>
              <a:ext cx="861298" cy="5078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zh-TW" sz="900" b="1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對應前端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 lvl="0">
                <a:spcAft>
                  <a:spcPts val="0"/>
                </a:spcAft>
                <a:buSzPts val="1000"/>
                <a:tabLst>
                  <a:tab pos="457200" algn="l"/>
                </a:tabLst>
              </a:pP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訂單管理頁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r>
                <a:rPr lang="zh-TW" altLang="zh-TW" sz="900" kern="0" dirty="0">
                  <a:cs typeface="新細明體" panose="02020500000000000000" pitchFamily="18" charset="-120"/>
                </a:rPr>
                <a:t>訂單建立頁</a:t>
              </a:r>
              <a:endParaRPr lang="zh-TW" altLang="en-US" sz="900" dirty="0"/>
            </a:p>
          </p:txBody>
        </p:sp>
        <p:sp>
          <p:nvSpPr>
            <p:cNvPr id="39" name="矩形 38"/>
            <p:cNvSpPr/>
            <p:nvPr/>
          </p:nvSpPr>
          <p:spPr>
            <a:xfrm>
              <a:off x="2060848" y="1709989"/>
              <a:ext cx="1584176" cy="5078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zh-TW" sz="900" b="1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對應後端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spcAft>
                  <a:spcPts val="0"/>
                </a:spcAft>
                <a:tabLst>
                  <a:tab pos="581660" algn="l"/>
                  <a:tab pos="1163320" algn="l"/>
                  <a:tab pos="1744980" algn="l"/>
                  <a:tab pos="2326640" algn="l"/>
                  <a:tab pos="2908300" algn="l"/>
                  <a:tab pos="3489960" algn="l"/>
                  <a:tab pos="4071620" algn="l"/>
                  <a:tab pos="4653280" algn="l"/>
                  <a:tab pos="5234940" algn="l"/>
                  <a:tab pos="5816600" algn="l"/>
                  <a:tab pos="6398260" algn="l"/>
                  <a:tab pos="6979920" algn="l"/>
                  <a:tab pos="7561580" algn="l"/>
                  <a:tab pos="8143240" algn="l"/>
                  <a:tab pos="8724900" algn="l"/>
                  <a:tab pos="9306560" algn="l"/>
                </a:tabLst>
              </a:pPr>
              <a:r>
                <a:rPr lang="en-US" altLang="zh-TW" sz="900" kern="0" dirty="0">
                  <a:latin typeface="細明體" panose="02020509000000000000" pitchFamily="49" charset="-120"/>
                  <a:cs typeface="細明體" panose="02020509000000000000" pitchFamily="49" charset="-120"/>
                </a:rPr>
                <a:t>routes/orderRoutes.js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spcAft>
                  <a:spcPts val="0"/>
                </a:spcAft>
                <a:tabLst>
                  <a:tab pos="581660" algn="l"/>
                  <a:tab pos="1163320" algn="l"/>
                  <a:tab pos="1744980" algn="l"/>
                  <a:tab pos="2326640" algn="l"/>
                  <a:tab pos="2908300" algn="l"/>
                  <a:tab pos="3489960" algn="l"/>
                  <a:tab pos="4071620" algn="l"/>
                  <a:tab pos="4653280" algn="l"/>
                  <a:tab pos="5234940" algn="l"/>
                  <a:tab pos="5816600" algn="l"/>
                  <a:tab pos="6398260" algn="l"/>
                  <a:tab pos="6979920" algn="l"/>
                  <a:tab pos="7561580" algn="l"/>
                  <a:tab pos="8143240" algn="l"/>
                  <a:tab pos="8724900" algn="l"/>
                  <a:tab pos="9306560" algn="l"/>
                </a:tabLst>
              </a:pPr>
              <a:r>
                <a:rPr lang="en-US" altLang="zh-TW" sz="900" kern="0" dirty="0">
                  <a:latin typeface="細明體" panose="02020509000000000000" pitchFamily="49" charset="-120"/>
                  <a:cs typeface="細明體" panose="02020509000000000000" pitchFamily="49" charset="-120"/>
                </a:rPr>
                <a:t>services/orderService.js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44" name="群組 43"/>
          <p:cNvGrpSpPr/>
          <p:nvPr/>
        </p:nvGrpSpPr>
        <p:grpSpPr>
          <a:xfrm>
            <a:off x="-56103" y="18654"/>
            <a:ext cx="6725463" cy="1649452"/>
            <a:chOff x="-56103" y="18654"/>
            <a:chExt cx="6725463" cy="1649452"/>
          </a:xfrm>
        </p:grpSpPr>
        <p:pic>
          <p:nvPicPr>
            <p:cNvPr id="8" name="圖片 7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94" y="18654"/>
              <a:ext cx="6667066" cy="886253"/>
            </a:xfrm>
            <a:prstGeom prst="rect">
              <a:avLst/>
            </a:prstGeom>
          </p:spPr>
        </p:pic>
        <p:sp>
          <p:nvSpPr>
            <p:cNvPr id="41" name="矩形 40"/>
            <p:cNvSpPr/>
            <p:nvPr/>
          </p:nvSpPr>
          <p:spPr>
            <a:xfrm>
              <a:off x="-56103" y="890393"/>
              <a:ext cx="1838965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TW" altLang="zh-TW" sz="900" kern="0" dirty="0">
                  <a:cs typeface="新細明體" panose="02020500000000000000" pitchFamily="18" charset="-120"/>
                </a:rPr>
                <a:t>主商品資料庫（所有商品主檔</a:t>
              </a:r>
              <a:r>
                <a:rPr lang="zh-TW" altLang="zh-TW" sz="1200" kern="0" dirty="0">
                  <a:cs typeface="新細明體" panose="02020500000000000000" pitchFamily="18" charset="-120"/>
                </a:rPr>
                <a:t>）</a:t>
              </a:r>
              <a:endParaRPr lang="zh-TW" altLang="en-US" dirty="0"/>
            </a:p>
          </p:txBody>
        </p:sp>
        <p:sp>
          <p:nvSpPr>
            <p:cNvPr id="42" name="矩形 41"/>
            <p:cNvSpPr/>
            <p:nvPr/>
          </p:nvSpPr>
          <p:spPr>
            <a:xfrm>
              <a:off x="1630199" y="883276"/>
              <a:ext cx="2180174" cy="78483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zh-TW" sz="900" b="1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對應前端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 marL="342900" lvl="0" indent="-342900">
                <a:spcAft>
                  <a:spcPts val="0"/>
                </a:spcAft>
                <a:buSzPts val="1000"/>
                <a:buFont typeface="Symbol" panose="05050102010706020507" pitchFamily="18" charset="2"/>
                <a:buChar char=""/>
                <a:tabLst>
                  <a:tab pos="457200" algn="l"/>
                </a:tabLst>
              </a:pP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商品列表頁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 marL="342900" lvl="0" indent="-342900">
                <a:spcAft>
                  <a:spcPts val="0"/>
                </a:spcAft>
                <a:buSzPts val="1000"/>
                <a:buFont typeface="Symbol" panose="05050102010706020507" pitchFamily="18" charset="2"/>
                <a:buChar char=""/>
                <a:tabLst>
                  <a:tab pos="457200" algn="l"/>
                </a:tabLst>
              </a:pP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商品詳情頁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 marL="342900" lvl="0" indent="-342900">
                <a:spcAft>
                  <a:spcPts val="0"/>
                </a:spcAft>
                <a:buSzPts val="1000"/>
                <a:buFont typeface="Symbol" panose="05050102010706020507" pitchFamily="18" charset="2"/>
                <a:buChar char=""/>
                <a:tabLst>
                  <a:tab pos="457200" algn="l"/>
                </a:tabLst>
              </a:pPr>
              <a:r>
                <a:rPr lang="en-US" altLang="zh-TW" sz="900" kern="0" dirty="0">
                  <a:latin typeface="新細明體" panose="02020500000000000000" pitchFamily="18" charset="-120"/>
                  <a:cs typeface="新細明體" panose="02020500000000000000" pitchFamily="18" charset="-120"/>
                </a:rPr>
                <a:t>LINE </a:t>
              </a: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商品選單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 marL="342900" lvl="0" indent="-342900">
                <a:spcAft>
                  <a:spcPts val="0"/>
                </a:spcAft>
                <a:buSzPts val="1000"/>
                <a:buFont typeface="Symbol" panose="05050102010706020507" pitchFamily="18" charset="2"/>
                <a:buChar char=""/>
                <a:tabLst>
                  <a:tab pos="457200" algn="l"/>
                </a:tabLst>
              </a:pP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現貨出清頁會讀這裡的資料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43" name="矩形 42"/>
            <p:cNvSpPr/>
            <p:nvPr/>
          </p:nvSpPr>
          <p:spPr>
            <a:xfrm>
              <a:off x="3429000" y="1026334"/>
              <a:ext cx="1800200" cy="5078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zh-TW" sz="900" b="1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對應後端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spcAft>
                  <a:spcPts val="0"/>
                </a:spcAft>
                <a:tabLst>
                  <a:tab pos="581660" algn="l"/>
                  <a:tab pos="1163320" algn="l"/>
                  <a:tab pos="1744980" algn="l"/>
                  <a:tab pos="2326640" algn="l"/>
                  <a:tab pos="2908300" algn="l"/>
                  <a:tab pos="3489960" algn="l"/>
                  <a:tab pos="4071620" algn="l"/>
                  <a:tab pos="4653280" algn="l"/>
                  <a:tab pos="5234940" algn="l"/>
                  <a:tab pos="5816600" algn="l"/>
                  <a:tab pos="6398260" algn="l"/>
                  <a:tab pos="6979920" algn="l"/>
                  <a:tab pos="7561580" algn="l"/>
                  <a:tab pos="8143240" algn="l"/>
                  <a:tab pos="8724900" algn="l"/>
                  <a:tab pos="9306560" algn="l"/>
                </a:tabLst>
              </a:pPr>
              <a:r>
                <a:rPr lang="en-US" altLang="zh-TW" sz="900" kern="0" dirty="0">
                  <a:latin typeface="細明體" panose="02020509000000000000" pitchFamily="49" charset="-120"/>
                  <a:cs typeface="細明體" panose="02020509000000000000" pitchFamily="49" charset="-120"/>
                </a:rPr>
                <a:t>routes/productRoutes.js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spcAft>
                  <a:spcPts val="0"/>
                </a:spcAft>
                <a:tabLst>
                  <a:tab pos="581660" algn="l"/>
                  <a:tab pos="1163320" algn="l"/>
                  <a:tab pos="1744980" algn="l"/>
                  <a:tab pos="2326640" algn="l"/>
                  <a:tab pos="2908300" algn="l"/>
                  <a:tab pos="3489960" algn="l"/>
                  <a:tab pos="4071620" algn="l"/>
                  <a:tab pos="4653280" algn="l"/>
                  <a:tab pos="5234940" algn="l"/>
                  <a:tab pos="5816600" algn="l"/>
                  <a:tab pos="6398260" algn="l"/>
                  <a:tab pos="6979920" algn="l"/>
                  <a:tab pos="7561580" algn="l"/>
                  <a:tab pos="8143240" algn="l"/>
                  <a:tab pos="8724900" algn="l"/>
                  <a:tab pos="9306560" algn="l"/>
                </a:tabLst>
              </a:pPr>
              <a:r>
                <a:rPr lang="en-US" altLang="zh-TW" sz="900" kern="0" dirty="0">
                  <a:latin typeface="細明體" panose="02020509000000000000" pitchFamily="49" charset="-120"/>
                  <a:cs typeface="細明體" panose="02020509000000000000" pitchFamily="49" charset="-120"/>
                </a:rPr>
                <a:t>services/productService.js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036306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48" y="755576"/>
            <a:ext cx="3481118" cy="5438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63410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1608</TotalTime>
  <Words>917</Words>
  <Application>Microsoft Office PowerPoint</Application>
  <PresentationFormat>如螢幕大小 (4:3)</PresentationFormat>
  <Paragraphs>98</Paragraphs>
  <Slides>11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9" baseType="lpstr">
      <vt:lpstr>細明體</vt:lpstr>
      <vt:lpstr>新細明體</vt:lpstr>
      <vt:lpstr>Arial</vt:lpstr>
      <vt:lpstr>Calibri</vt:lpstr>
      <vt:lpstr>Segoe UI Symbol</vt:lpstr>
      <vt:lpstr>Symbol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user</dc:creator>
  <cp:lastModifiedBy>Peter Peter</cp:lastModifiedBy>
  <cp:revision>39</cp:revision>
  <dcterms:created xsi:type="dcterms:W3CDTF">2026-01-28T11:46:01Z</dcterms:created>
  <dcterms:modified xsi:type="dcterms:W3CDTF">2026-02-24T12:38:08Z</dcterms:modified>
</cp:coreProperties>
</file>