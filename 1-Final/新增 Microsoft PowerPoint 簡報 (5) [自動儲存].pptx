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28" autoAdjust="0"/>
    <p:restoredTop sz="94660"/>
  </p:normalViewPr>
  <p:slideViewPr>
    <p:cSldViewPr>
      <p:cViewPr varScale="1">
        <p:scale>
          <a:sx n="67" d="100"/>
          <a:sy n="67" d="100"/>
        </p:scale>
        <p:origin x="15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4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342" y="5863700"/>
            <a:ext cx="831960" cy="54332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99" y="2817649"/>
            <a:ext cx="1868442" cy="367939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02393" y="2199734"/>
            <a:ext cx="1859805" cy="30008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TW" altLang="en-US" sz="1350" b="1" dirty="0">
                <a:solidFill>
                  <a:srgbClr val="FF0000"/>
                </a:solidFill>
              </a:rPr>
              <a:t>本機 </a:t>
            </a:r>
            <a:r>
              <a:rPr lang="en-US" altLang="zh-TW" sz="1350" b="1" dirty="0" err="1">
                <a:solidFill>
                  <a:srgbClr val="FF0000"/>
                </a:solidFill>
              </a:rPr>
              <a:t>Phonmain</a:t>
            </a:r>
            <a:r>
              <a:rPr lang="en-US" altLang="zh-TW" sz="1350" b="1" dirty="0">
                <a:solidFill>
                  <a:srgbClr val="FF0000"/>
                </a:solidFill>
              </a:rPr>
              <a:t> </a:t>
            </a:r>
            <a:r>
              <a:rPr lang="zh-TW" altLang="en-US" sz="1350" b="1" dirty="0">
                <a:solidFill>
                  <a:srgbClr val="FF0000"/>
                </a:solidFill>
              </a:rPr>
              <a:t>根目錄</a:t>
            </a:r>
          </a:p>
        </p:txBody>
      </p:sp>
      <p:cxnSp>
        <p:nvCxnSpPr>
          <p:cNvPr id="8" name="肘形接點 7"/>
          <p:cNvCxnSpPr/>
          <p:nvPr/>
        </p:nvCxnSpPr>
        <p:spPr>
          <a:xfrm flipV="1">
            <a:off x="1136505" y="2557879"/>
            <a:ext cx="887524" cy="451090"/>
          </a:xfrm>
          <a:prstGeom prst="bentConnector3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1010354" y="3299890"/>
            <a:ext cx="947864" cy="67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1118366" y="3886444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1538790" y="3724697"/>
            <a:ext cx="4539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b="1" dirty="0"/>
              <a:t>/</a:t>
            </a:r>
            <a:r>
              <a:rPr lang="en-US" altLang="zh-TW" sz="1350" b="1" dirty="0" err="1"/>
              <a:t>liff</a:t>
            </a:r>
            <a:endParaRPr lang="zh-TW" altLang="en-US" sz="1350" b="1" dirty="0"/>
          </a:p>
        </p:txBody>
      </p:sp>
      <p:cxnSp>
        <p:nvCxnSpPr>
          <p:cNvPr id="28" name="肘形接點 27"/>
          <p:cNvCxnSpPr/>
          <p:nvPr/>
        </p:nvCxnSpPr>
        <p:spPr>
          <a:xfrm>
            <a:off x="1299180" y="4488578"/>
            <a:ext cx="2176449" cy="1248920"/>
          </a:xfrm>
          <a:prstGeom prst="bentConnector3">
            <a:avLst>
              <a:gd name="adj1" fmla="val 31994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782706" y="2586585"/>
            <a:ext cx="0" cy="2465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163278" y="4193958"/>
            <a:ext cx="9363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895" y="2145332"/>
            <a:ext cx="939795" cy="662802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218" y="2910300"/>
            <a:ext cx="1082706" cy="659466"/>
          </a:xfrm>
          <a:prstGeom prst="rect">
            <a:avLst/>
          </a:prstGeom>
        </p:spPr>
      </p:pic>
      <p:cxnSp>
        <p:nvCxnSpPr>
          <p:cNvPr id="26" name="肘形接點 25"/>
          <p:cNvCxnSpPr/>
          <p:nvPr/>
        </p:nvCxnSpPr>
        <p:spPr>
          <a:xfrm flipV="1">
            <a:off x="1958218" y="2586584"/>
            <a:ext cx="3093856" cy="1276614"/>
          </a:xfrm>
          <a:prstGeom prst="bentConnector3">
            <a:avLst>
              <a:gd name="adj1" fmla="val 368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/>
          <p:nvPr/>
        </p:nvCxnSpPr>
        <p:spPr>
          <a:xfrm>
            <a:off x="944724" y="4818151"/>
            <a:ext cx="1269551" cy="1202541"/>
          </a:xfrm>
          <a:prstGeom prst="bentConnector3">
            <a:avLst>
              <a:gd name="adj1" fmla="val 635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圖片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64" y="6441702"/>
            <a:ext cx="1455508" cy="308744"/>
          </a:xfrm>
          <a:prstGeom prst="rect">
            <a:avLst/>
          </a:prstGeom>
        </p:spPr>
      </p:pic>
      <p:cxnSp>
        <p:nvCxnSpPr>
          <p:cNvPr id="37" name="直線單箭頭接點 36"/>
          <p:cNvCxnSpPr/>
          <p:nvPr/>
        </p:nvCxnSpPr>
        <p:spPr>
          <a:xfrm>
            <a:off x="1667593" y="6620810"/>
            <a:ext cx="43204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圖片 3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015" y="6502049"/>
            <a:ext cx="999578" cy="237523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382" y="3932378"/>
            <a:ext cx="1308047" cy="157296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004" y="3019486"/>
            <a:ext cx="1445187" cy="376723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434" y="2145332"/>
            <a:ext cx="1646390" cy="282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8" y="2000250"/>
            <a:ext cx="372641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0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50"/>
          <a:stretch/>
        </p:blipFill>
        <p:spPr>
          <a:xfrm>
            <a:off x="0" y="2000251"/>
            <a:ext cx="4862304" cy="356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36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295"/>
          <a:stretch/>
        </p:blipFill>
        <p:spPr>
          <a:xfrm>
            <a:off x="6412" y="1975701"/>
            <a:ext cx="3852443" cy="189021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62" y="3865911"/>
            <a:ext cx="3884792" cy="3246859"/>
          </a:xfrm>
          <a:prstGeom prst="rect">
            <a:avLst/>
          </a:prstGeom>
        </p:spPr>
      </p:pic>
      <p:cxnSp>
        <p:nvCxnSpPr>
          <p:cNvPr id="7" name="肘形接點 6"/>
          <p:cNvCxnSpPr>
            <a:stCxn id="11" idx="2"/>
          </p:cNvCxnSpPr>
          <p:nvPr/>
        </p:nvCxnSpPr>
        <p:spPr>
          <a:xfrm rot="5400000">
            <a:off x="1201253" y="3235352"/>
            <a:ext cx="756084" cy="72908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106742" y="2951820"/>
            <a:ext cx="1674186" cy="2700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</p:spTree>
    <p:extLst>
      <p:ext uri="{BB962C8B-B14F-4D97-AF65-F5344CB8AC3E}">
        <p14:creationId xmlns:p14="http://schemas.microsoft.com/office/powerpoint/2010/main" val="327536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40" y="2005408"/>
            <a:ext cx="5842857" cy="15500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88640" y="3653899"/>
            <a:ext cx="5955476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350" dirty="0"/>
              <a:t>一般大多數版主都是從</a:t>
            </a:r>
            <a:r>
              <a:rPr lang="en-US" altLang="zh-TW" sz="1350" dirty="0"/>
              <a:t>Line </a:t>
            </a:r>
            <a:r>
              <a:rPr lang="zh-TW" altLang="en-US" sz="1350" dirty="0"/>
              <a:t>直接</a:t>
            </a:r>
            <a:r>
              <a:rPr lang="en-US" altLang="zh-TW" sz="1350" dirty="0"/>
              <a:t>PO</a:t>
            </a:r>
            <a:r>
              <a:rPr lang="zh-TW" altLang="en-US" sz="1350" dirty="0"/>
              <a:t>商品在記事本內</a:t>
            </a:r>
            <a:r>
              <a:rPr lang="en-US" altLang="zh-TW" sz="1350" dirty="0"/>
              <a:t>,</a:t>
            </a:r>
            <a:r>
              <a:rPr lang="zh-TW" altLang="en-US" sz="1350" dirty="0"/>
              <a:t>只會修改到價錢及結單日</a:t>
            </a:r>
            <a:endParaRPr lang="en-US" altLang="zh-TW" sz="1350" dirty="0"/>
          </a:p>
          <a:p>
            <a:r>
              <a:rPr lang="zh-TW" altLang="en-US" sz="1350" dirty="0"/>
              <a:t>以這套系統來看</a:t>
            </a:r>
            <a:r>
              <a:rPr lang="en-US" altLang="zh-TW" sz="1350" dirty="0"/>
              <a:t>,</a:t>
            </a:r>
            <a:r>
              <a:rPr lang="zh-TW" altLang="en-US" sz="1350" dirty="0"/>
              <a:t>則需要開啓</a:t>
            </a:r>
            <a:r>
              <a:rPr lang="en-US" altLang="zh-TW" sz="1350" dirty="0"/>
              <a:t>Google sheet</a:t>
            </a:r>
            <a:r>
              <a:rPr lang="zh-TW" altLang="en-US" sz="1350" dirty="0"/>
              <a:t>並將商品建立在</a:t>
            </a:r>
            <a:r>
              <a:rPr lang="en-US" altLang="zh-TW" sz="1350" dirty="0"/>
              <a:t>Products sheet</a:t>
            </a:r>
            <a:r>
              <a:rPr lang="zh-TW" altLang="en-US" sz="1350" dirty="0"/>
              <a:t>內</a:t>
            </a:r>
            <a:endParaRPr lang="en-US" altLang="zh-TW" sz="1350" dirty="0"/>
          </a:p>
          <a:p>
            <a:r>
              <a:rPr lang="zh-TW" altLang="en-US" sz="1350" dirty="0"/>
              <a:t>目前於</a:t>
            </a:r>
            <a:r>
              <a:rPr lang="en-US" altLang="zh-TW" sz="1350" dirty="0"/>
              <a:t>Products Sheet</a:t>
            </a:r>
            <a:r>
              <a:rPr lang="zh-TW" altLang="en-US" sz="1350" dirty="0"/>
              <a:t>內要手動輸入的欄位為</a:t>
            </a:r>
            <a:r>
              <a:rPr lang="en-US" altLang="zh-TW" sz="1350" dirty="0"/>
              <a:t>A,B,C,D,F</a:t>
            </a:r>
          </a:p>
          <a:p>
            <a:r>
              <a:rPr lang="en-US" altLang="zh-TW" sz="1350" dirty="0"/>
              <a:t>1) </a:t>
            </a:r>
            <a:r>
              <a:rPr lang="zh-TW" altLang="en-US" sz="1350" dirty="0"/>
              <a:t>是否有</a:t>
            </a:r>
            <a:endParaRPr lang="en-US" altLang="zh-TW" sz="1350" dirty="0"/>
          </a:p>
          <a:p>
            <a:r>
              <a:rPr lang="zh-TW" altLang="en-US" sz="1350" dirty="0"/>
              <a:t>商品代碼是否可以由系統產生</a:t>
            </a:r>
            <a:r>
              <a:rPr lang="en-US" altLang="zh-TW" sz="1350" dirty="0"/>
              <a:t>,</a:t>
            </a:r>
            <a:r>
              <a:rPr lang="zh-TW" altLang="en-US" sz="1350" dirty="0"/>
              <a:t>這樣版主可以不用想代碼或輸入到重覆的代碼</a:t>
            </a:r>
          </a:p>
        </p:txBody>
      </p:sp>
    </p:spTree>
    <p:extLst>
      <p:ext uri="{BB962C8B-B14F-4D97-AF65-F5344CB8AC3E}">
        <p14:creationId xmlns:p14="http://schemas.microsoft.com/office/powerpoint/2010/main" val="298541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/>
          <a:srcRect b="12201"/>
          <a:stretch/>
        </p:blipFill>
        <p:spPr>
          <a:xfrm>
            <a:off x="3560277" y="2004110"/>
            <a:ext cx="3297723" cy="3996444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5916"/>
            <a:ext cx="3131586" cy="197699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5890"/>
            <a:ext cx="3131586" cy="1976998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1430778" y="3329862"/>
            <a:ext cx="540060" cy="270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1430778" y="3599892"/>
            <a:ext cx="270030" cy="1134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>
            <a:off x="1159055" y="4848849"/>
            <a:ext cx="540060" cy="2700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1699116" y="4562429"/>
            <a:ext cx="1783891" cy="4214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70"/>
          <a:stretch/>
        </p:blipFill>
        <p:spPr>
          <a:xfrm>
            <a:off x="11618" y="5730377"/>
            <a:ext cx="2823316" cy="132841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20688" y="5730378"/>
            <a:ext cx="810090" cy="1917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322766" y="5907745"/>
            <a:ext cx="54006" cy="496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320988" y="6394586"/>
            <a:ext cx="3429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900" dirty="0"/>
              <a:t>Messaging API </a:t>
            </a:r>
            <a:r>
              <a:rPr lang="zh-TW" altLang="en-US" sz="900" dirty="0"/>
              <a:t>錯誤訊息</a:t>
            </a:r>
            <a:endParaRPr lang="en-US" altLang="zh-TW" sz="900" dirty="0"/>
          </a:p>
          <a:p>
            <a:r>
              <a:rPr lang="zh-TW" altLang="en-US" sz="900" dirty="0"/>
              <a:t>您無法再將 </a:t>
            </a:r>
            <a:r>
              <a:rPr lang="en-US" altLang="zh-TW" sz="900" dirty="0"/>
              <a:t>LIFF </a:t>
            </a:r>
            <a:r>
              <a:rPr lang="zh-TW" altLang="en-US" sz="900" dirty="0"/>
              <a:t>應用程式新增至 </a:t>
            </a:r>
            <a:r>
              <a:rPr lang="en-US" altLang="zh-TW" sz="900" dirty="0"/>
              <a:t>Messaging API </a:t>
            </a:r>
            <a:r>
              <a:rPr lang="zh-TW" altLang="en-US" sz="900" dirty="0"/>
              <a:t>通道。請改用 </a:t>
            </a:r>
            <a:r>
              <a:rPr lang="en-US" altLang="zh-TW" sz="900" dirty="0"/>
              <a:t>LINE </a:t>
            </a:r>
            <a:r>
              <a:rPr lang="zh-TW" altLang="en-US" sz="900" dirty="0"/>
              <a:t>登入頻道。</a:t>
            </a:r>
          </a:p>
        </p:txBody>
      </p:sp>
      <p:cxnSp>
        <p:nvCxnSpPr>
          <p:cNvPr id="18" name="直線單箭頭接點 17"/>
          <p:cNvCxnSpPr>
            <a:stCxn id="16" idx="1"/>
          </p:cNvCxnSpPr>
          <p:nvPr/>
        </p:nvCxnSpPr>
        <p:spPr>
          <a:xfrm flipH="1" flipV="1">
            <a:off x="2456892" y="6462211"/>
            <a:ext cx="864096" cy="186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85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621" y="2000250"/>
            <a:ext cx="3539380" cy="384406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389" y="2000251"/>
            <a:ext cx="3561324" cy="386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61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/>
          <p:cNvGrpSpPr/>
          <p:nvPr/>
        </p:nvGrpSpPr>
        <p:grpSpPr>
          <a:xfrm>
            <a:off x="0" y="4153657"/>
            <a:ext cx="6858000" cy="1543065"/>
            <a:chOff x="-5099" y="3503059"/>
            <a:chExt cx="6858000" cy="1543065"/>
          </a:xfrm>
        </p:grpSpPr>
        <p:sp>
          <p:nvSpPr>
            <p:cNvPr id="21" name="矩形 20"/>
            <p:cNvSpPr/>
            <p:nvPr/>
          </p:nvSpPr>
          <p:spPr>
            <a:xfrm>
              <a:off x="-5099" y="4307690"/>
              <a:ext cx="14157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12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向廠商下單的紀錄</a:t>
              </a:r>
              <a:endParaRPr lang="zh-TW" altLang="zh-TW" sz="12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-5099" y="4523050"/>
              <a:ext cx="85040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對應前端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zh-TW" altLang="zh-TW" sz="900" kern="0" dirty="0">
                  <a:cs typeface="新細明體" panose="02020500000000000000" pitchFamily="18" charset="-120"/>
                </a:rPr>
                <a:t>廠商進貨頁</a:t>
              </a:r>
              <a:endParaRPr lang="zh-TW" altLang="en-US" sz="9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845305" y="4538293"/>
              <a:ext cx="1930524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對應後端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routes/vendorOrderRoutes.js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services/vendorOrderService.js</a:t>
              </a:r>
              <a:endParaRPr lang="zh-TW" altLang="en-US" sz="900" dirty="0"/>
            </a:p>
          </p:txBody>
        </p:sp>
        <p:pic>
          <p:nvPicPr>
            <p:cNvPr id="27" name="圖片 2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099" y="3503059"/>
              <a:ext cx="6858000" cy="859377"/>
            </a:xfrm>
            <a:prstGeom prst="rect">
              <a:avLst/>
            </a:prstGeom>
          </p:spPr>
        </p:pic>
      </p:grpSp>
      <p:grpSp>
        <p:nvGrpSpPr>
          <p:cNvPr id="30" name="群組 29"/>
          <p:cNvGrpSpPr/>
          <p:nvPr/>
        </p:nvGrpSpPr>
        <p:grpSpPr>
          <a:xfrm>
            <a:off x="0" y="5717793"/>
            <a:ext cx="6858000" cy="1681343"/>
            <a:chOff x="27384" y="5300336"/>
            <a:chExt cx="6858000" cy="1681343"/>
          </a:xfrm>
        </p:grpSpPr>
        <p:sp>
          <p:nvSpPr>
            <p:cNvPr id="16" name="矩形 15"/>
            <p:cNvSpPr/>
            <p:nvPr/>
          </p:nvSpPr>
          <p:spPr>
            <a:xfrm>
              <a:off x="199498" y="6431376"/>
              <a:ext cx="1183337" cy="5252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zh-TW" sz="1013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對應前端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57175" indent="-257175">
                <a:buSzPts val="1000"/>
                <a:buFont typeface="Symbol" panose="05050102010706020507" pitchFamily="18" charset="2"/>
                <a:buChar char=""/>
                <a:tabLst>
                  <a:tab pos="3429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現貨出清頁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57175" indent="-257175">
                <a:buSzPts val="1000"/>
                <a:buFont typeface="Symbol" panose="05050102010706020507" pitchFamily="18" charset="2"/>
                <a:buChar char=""/>
                <a:tabLst>
                  <a:tab pos="342900" algn="l"/>
                </a:tabLst>
              </a:pPr>
              <a:r>
                <a:rPr lang="en-US" altLang="zh-TW" sz="900" kern="0" dirty="0">
                  <a:latin typeface="新細明體" panose="02020500000000000000" pitchFamily="18" charset="-120"/>
                  <a:cs typeface="新細明體" panose="02020500000000000000" pitchFamily="18" charset="-120"/>
                </a:rPr>
                <a:t>LINE </a:t>
              </a: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搶購按鈕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25169" y="6103473"/>
              <a:ext cx="218521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zh-TW" sz="1200" kern="0" dirty="0">
                  <a:cs typeface="新細明體" panose="02020500000000000000" pitchFamily="18" charset="-120"/>
                </a:rPr>
                <a:t>現貨出清商品池（庫存主檔）</a:t>
              </a:r>
              <a:endParaRPr lang="zh-TW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1382835" y="6335348"/>
              <a:ext cx="3429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spcAft>
                  <a:spcPts val="0"/>
                </a:spcAft>
                <a:tabLst>
                  <a:tab pos="1405890" algn="l"/>
                </a:tabLs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對應後端</a:t>
              </a:r>
              <a:r>
                <a:rPr lang="en-US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	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routes/overstockRoutes.js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services/overstockService.js   ← </a:t>
              </a:r>
              <a:r>
                <a:rPr lang="zh-TW" altLang="zh-TW" sz="900" kern="0" dirty="0">
                  <a:latin typeface="Calibri" panose="020F0502020204030204" pitchFamily="34" charset="0"/>
                  <a:ea typeface="細明體" panose="02020509000000000000" pitchFamily="49" charset="-120"/>
                  <a:cs typeface="細明體" panose="02020509000000000000" pitchFamily="49" charset="-120"/>
                </a:rPr>
                <a:t>核心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en-US" altLang="zh-TW" sz="900" kern="0" dirty="0" err="1">
                  <a:latin typeface="細明體" panose="02020509000000000000" pitchFamily="49" charset="-120"/>
                  <a:cs typeface="細明體" panose="02020509000000000000" pitchFamily="49" charset="-120"/>
                </a:rPr>
                <a:t>buyOverstockItem</a:t>
              </a: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()</a:t>
              </a:r>
              <a:r>
                <a:rPr lang="en-US" altLang="zh-TW" sz="900" kern="0" dirty="0">
                  <a:latin typeface="新細明體" panose="02020500000000000000" pitchFamily="18" charset="-120"/>
                  <a:cs typeface="新細明體" panose="02020500000000000000" pitchFamily="18" charset="-120"/>
                </a:rPr>
                <a:t> </a:t>
              </a:r>
              <a:r>
                <a:rPr lang="zh-TW" altLang="zh-TW" sz="900" kern="0" dirty="0">
                  <a:cs typeface="新細明體" panose="02020500000000000000" pitchFamily="18" charset="-120"/>
                </a:rPr>
                <a:t>就在這裡</a:t>
              </a:r>
              <a:endParaRPr lang="zh-TW" altLang="en-US" sz="900" dirty="0"/>
            </a:p>
          </p:txBody>
        </p:sp>
        <p:pic>
          <p:nvPicPr>
            <p:cNvPr id="29" name="圖片 2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84" y="5300336"/>
              <a:ext cx="6858000" cy="809801"/>
            </a:xfrm>
            <a:prstGeom prst="rect">
              <a:avLst/>
            </a:prstGeom>
          </p:spPr>
        </p:pic>
      </p:grpSp>
      <p:grpSp>
        <p:nvGrpSpPr>
          <p:cNvPr id="32" name="群組 31"/>
          <p:cNvGrpSpPr/>
          <p:nvPr/>
        </p:nvGrpSpPr>
        <p:grpSpPr>
          <a:xfrm>
            <a:off x="6950" y="7399136"/>
            <a:ext cx="6858000" cy="1571531"/>
            <a:chOff x="6950" y="7399136"/>
            <a:chExt cx="6858000" cy="1571531"/>
          </a:xfrm>
        </p:grpSpPr>
        <p:sp>
          <p:nvSpPr>
            <p:cNvPr id="13" name="矩形 12"/>
            <p:cNvSpPr/>
            <p:nvPr/>
          </p:nvSpPr>
          <p:spPr>
            <a:xfrm>
              <a:off x="116632" y="8245583"/>
              <a:ext cx="2545043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zh-TW" sz="900" kern="0" dirty="0">
                  <a:cs typeface="新細明體" panose="02020500000000000000" pitchFamily="18" charset="-120"/>
                </a:rPr>
                <a:t>現貨出清訂單紀錄（成功搶到才寫）</a:t>
              </a:r>
              <a:endParaRPr lang="zh-TW" altLang="en-US" sz="135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116632" y="8462836"/>
              <a:ext cx="1691600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對應前端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57175" indent="-257175">
                <a:buSzPts val="1000"/>
                <a:buFont typeface="Symbol" panose="05050102010706020507" pitchFamily="18" charset="2"/>
                <a:buChar char=""/>
                <a:tabLst>
                  <a:tab pos="3429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搶購成功列表頁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257175" indent="-257175">
                <a:buSzPts val="1000"/>
                <a:buFont typeface="Symbol" panose="05050102010706020507" pitchFamily="18" charset="2"/>
                <a:buChar char=""/>
                <a:tabLst>
                  <a:tab pos="3429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出清訂單管理頁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192653" y="8461365"/>
              <a:ext cx="2621742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對應後端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tabLst>
                  <a:tab pos="436245" algn="l"/>
                  <a:tab pos="872490" algn="l"/>
                  <a:tab pos="1308735" algn="l"/>
                  <a:tab pos="1744980" algn="l"/>
                  <a:tab pos="2181225" algn="l"/>
                  <a:tab pos="2617470" algn="l"/>
                  <a:tab pos="3053715" algn="l"/>
                  <a:tab pos="3489960" algn="l"/>
                  <a:tab pos="3926205" algn="l"/>
                  <a:tab pos="4362450" algn="l"/>
                  <a:tab pos="4798695" algn="l"/>
                  <a:tab pos="5234940" algn="l"/>
                  <a:tab pos="5671185" algn="l"/>
                  <a:tab pos="6107430" algn="l"/>
                  <a:tab pos="6543675" algn="l"/>
                  <a:tab pos="697992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services/overstockService.js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tabLst>
                  <a:tab pos="436245" algn="l"/>
                  <a:tab pos="872490" algn="l"/>
                  <a:tab pos="1308735" algn="l"/>
                  <a:tab pos="1744980" algn="l"/>
                  <a:tab pos="2181225" algn="l"/>
                  <a:tab pos="2617470" algn="l"/>
                  <a:tab pos="3053715" algn="l"/>
                  <a:tab pos="3489960" algn="l"/>
                  <a:tab pos="3926205" algn="l"/>
                  <a:tab pos="4362450" algn="l"/>
                  <a:tab pos="4798695" algn="l"/>
                  <a:tab pos="5234940" algn="l"/>
                  <a:tab pos="5671185" algn="l"/>
                  <a:tab pos="6107430" algn="l"/>
                  <a:tab pos="6543675" algn="l"/>
                  <a:tab pos="697992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services/overstockNotifyService.js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31" name="圖片 3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0" y="7399136"/>
              <a:ext cx="6858000" cy="847807"/>
            </a:xfrm>
            <a:prstGeom prst="rect">
              <a:avLst/>
            </a:prstGeom>
          </p:spPr>
        </p:pic>
      </p:grpSp>
      <p:grpSp>
        <p:nvGrpSpPr>
          <p:cNvPr id="36" name="群組 35"/>
          <p:cNvGrpSpPr/>
          <p:nvPr/>
        </p:nvGrpSpPr>
        <p:grpSpPr>
          <a:xfrm>
            <a:off x="0" y="2891233"/>
            <a:ext cx="6858000" cy="1199616"/>
            <a:chOff x="6950" y="1815517"/>
            <a:chExt cx="6858000" cy="1199616"/>
          </a:xfrm>
        </p:grpSpPr>
        <p:pic>
          <p:nvPicPr>
            <p:cNvPr id="26" name="圖片 2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0" y="1815517"/>
              <a:ext cx="6858000" cy="568923"/>
            </a:xfrm>
            <a:prstGeom prst="rect">
              <a:avLst/>
            </a:prstGeom>
          </p:spPr>
        </p:pic>
        <p:sp>
          <p:nvSpPr>
            <p:cNvPr id="33" name="矩形 32"/>
            <p:cNvSpPr/>
            <p:nvPr/>
          </p:nvSpPr>
          <p:spPr>
            <a:xfrm>
              <a:off x="74524" y="2414258"/>
              <a:ext cx="1341248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彙總：是統計頁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spcAft>
                  <a:spcPts val="0"/>
                </a:spcAft>
                <a:buSzPts val="1000"/>
                <a:buFont typeface="Symbol" panose="05050102010706020507" pitchFamily="18" charset="2"/>
                <a:buChar char=""/>
                <a:tabLst>
                  <a:tab pos="4572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訂購數量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spcAft>
                  <a:spcPts val="0"/>
                </a:spcAft>
                <a:buSzPts val="1000"/>
                <a:buFont typeface="Symbol" panose="05050102010706020507" pitchFamily="18" charset="2"/>
                <a:buChar char=""/>
                <a:tabLst>
                  <a:tab pos="4572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到貨數量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389153" y="2507302"/>
              <a:ext cx="1203494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對應前端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spcAft>
                  <a:spcPts val="0"/>
                </a:spcAft>
                <a:buSzPts val="1000"/>
                <a:tabLst>
                  <a:tab pos="4572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庫存統計頁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zh-TW" altLang="zh-TW" sz="900" kern="0" dirty="0">
                  <a:cs typeface="新細明體" panose="02020500000000000000" pitchFamily="18" charset="-120"/>
                </a:rPr>
                <a:t>成本報表頁</a:t>
              </a:r>
              <a:endParaRPr lang="zh-TW" altLang="en-US" sz="900" dirty="0"/>
            </a:p>
          </p:txBody>
        </p:sp>
        <p:sp>
          <p:nvSpPr>
            <p:cNvPr id="35" name="矩形 34"/>
            <p:cNvSpPr/>
            <p:nvPr/>
          </p:nvSpPr>
          <p:spPr>
            <a:xfrm>
              <a:off x="3078253" y="2491856"/>
              <a:ext cx="18002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對應後端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services/summaryService.js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-69205" y="1661644"/>
            <a:ext cx="6934155" cy="1219053"/>
            <a:chOff x="-69205" y="998768"/>
            <a:chExt cx="6934155" cy="1219053"/>
          </a:xfrm>
        </p:grpSpPr>
        <p:pic>
          <p:nvPicPr>
            <p:cNvPr id="25" name="圖片 2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0" y="998768"/>
              <a:ext cx="6858000" cy="666089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-69205" y="1633569"/>
              <a:ext cx="14927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一般訂單（非現貨搶購</a:t>
              </a:r>
              <a:r>
                <a:rPr lang="zh-TW" altLang="zh-TW" sz="12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）</a:t>
              </a:r>
              <a:endParaRPr lang="zh-TW" altLang="zh-TW" sz="12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199550" y="1709990"/>
              <a:ext cx="861298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對應前端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lvl="0">
                <a:spcAft>
                  <a:spcPts val="0"/>
                </a:spcAft>
                <a:buSzPts val="1000"/>
                <a:tabLst>
                  <a:tab pos="4572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訂單管理頁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r>
                <a:rPr lang="zh-TW" altLang="zh-TW" sz="900" kern="0" dirty="0">
                  <a:cs typeface="新細明體" panose="02020500000000000000" pitchFamily="18" charset="-120"/>
                </a:rPr>
                <a:t>訂單建立頁</a:t>
              </a:r>
              <a:endParaRPr lang="zh-TW" altLang="en-US" sz="900" dirty="0"/>
            </a:p>
          </p:txBody>
        </p:sp>
        <p:sp>
          <p:nvSpPr>
            <p:cNvPr id="39" name="矩形 38"/>
            <p:cNvSpPr/>
            <p:nvPr/>
          </p:nvSpPr>
          <p:spPr>
            <a:xfrm>
              <a:off x="2060848" y="1709989"/>
              <a:ext cx="1584176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對應後端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routes/orderRoutes.js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services/orderService.js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-56103" y="18654"/>
            <a:ext cx="6725463" cy="1649452"/>
            <a:chOff x="-56103" y="18654"/>
            <a:chExt cx="6725463" cy="1649452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4" y="18654"/>
              <a:ext cx="6667066" cy="886253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-56103" y="890393"/>
              <a:ext cx="183896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zh-TW" sz="900" kern="0" dirty="0">
                  <a:cs typeface="新細明體" panose="02020500000000000000" pitchFamily="18" charset="-120"/>
                </a:rPr>
                <a:t>主商品資料庫（所有商品主檔</a:t>
              </a:r>
              <a:r>
                <a:rPr lang="zh-TW" altLang="zh-TW" sz="1200" kern="0" dirty="0">
                  <a:cs typeface="新細明體" panose="02020500000000000000" pitchFamily="18" charset="-120"/>
                </a:rPr>
                <a:t>）</a:t>
              </a:r>
              <a:endParaRPr lang="zh-TW" altLang="en-US" dirty="0"/>
            </a:p>
          </p:txBody>
        </p:sp>
        <p:sp>
          <p:nvSpPr>
            <p:cNvPr id="42" name="矩形 41"/>
            <p:cNvSpPr/>
            <p:nvPr/>
          </p:nvSpPr>
          <p:spPr>
            <a:xfrm>
              <a:off x="1630199" y="883276"/>
              <a:ext cx="2180174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對應前端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spcAft>
                  <a:spcPts val="0"/>
                </a:spcAft>
                <a:buSzPts val="1000"/>
                <a:buFont typeface="Symbol" panose="05050102010706020507" pitchFamily="18" charset="2"/>
                <a:buChar char=""/>
                <a:tabLst>
                  <a:tab pos="4572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商品列表頁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spcAft>
                  <a:spcPts val="0"/>
                </a:spcAft>
                <a:buSzPts val="1000"/>
                <a:buFont typeface="Symbol" panose="05050102010706020507" pitchFamily="18" charset="2"/>
                <a:buChar char=""/>
                <a:tabLst>
                  <a:tab pos="4572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商品詳情頁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spcAft>
                  <a:spcPts val="0"/>
                </a:spcAft>
                <a:buSzPts val="1000"/>
                <a:buFont typeface="Symbol" panose="05050102010706020507" pitchFamily="18" charset="2"/>
                <a:buChar char=""/>
                <a:tabLst>
                  <a:tab pos="457200" algn="l"/>
                </a:tabLst>
              </a:pPr>
              <a:r>
                <a:rPr lang="en-US" altLang="zh-TW" sz="900" kern="0" dirty="0">
                  <a:latin typeface="新細明體" panose="02020500000000000000" pitchFamily="18" charset="-120"/>
                  <a:cs typeface="新細明體" panose="02020500000000000000" pitchFamily="18" charset="-120"/>
                </a:rPr>
                <a:t>LINE </a:t>
              </a: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商品選單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lvl="0" indent="-342900">
                <a:spcAft>
                  <a:spcPts val="0"/>
                </a:spcAft>
                <a:buSzPts val="1000"/>
                <a:buFont typeface="Symbol" panose="05050102010706020507" pitchFamily="18" charset="2"/>
                <a:buChar char=""/>
                <a:tabLst>
                  <a:tab pos="457200" algn="l"/>
                </a:tabLst>
              </a:pPr>
              <a:r>
                <a:rPr lang="zh-TW" altLang="zh-TW" sz="900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現貨出清頁會讀這裡的資料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3429000" y="1026334"/>
              <a:ext cx="1800200" cy="507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0"/>
                </a:spcAft>
              </a:pPr>
              <a:r>
                <a:rPr lang="zh-TW" altLang="zh-TW" sz="900" b="1" kern="0" dirty="0">
                  <a:latin typeface="Calibri" panose="020F0502020204030204" pitchFamily="34" charset="0"/>
                  <a:cs typeface="新細明體" panose="02020500000000000000" pitchFamily="18" charset="-120"/>
                </a:rPr>
                <a:t>對應後端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routes/productRoutes.js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TW" sz="900" kern="0" dirty="0">
                  <a:latin typeface="細明體" panose="02020509000000000000" pitchFamily="49" charset="-120"/>
                  <a:cs typeface="細明體" panose="02020509000000000000" pitchFamily="49" charset="-120"/>
                </a:rPr>
                <a:t>services/productService.js</a:t>
              </a:r>
              <a:endParaRPr lang="zh-TW" altLang="zh-TW" sz="900" kern="100" dirty="0"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630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8" y="755576"/>
            <a:ext cx="3481118" cy="543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4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257</Words>
  <Application>Microsoft Office PowerPoint</Application>
  <PresentationFormat>如螢幕大小 (4:3)</PresentationFormat>
  <Paragraphs>54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細明體</vt:lpstr>
      <vt:lpstr>新細明體</vt:lpstr>
      <vt:lpstr>Arial</vt:lpstr>
      <vt:lpstr>Calibri</vt:lpstr>
      <vt:lpstr>Symbol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郭大立</cp:lastModifiedBy>
  <cp:revision>35</cp:revision>
  <dcterms:created xsi:type="dcterms:W3CDTF">2026-01-28T11:46:01Z</dcterms:created>
  <dcterms:modified xsi:type="dcterms:W3CDTF">2026-02-19T12:13:58Z</dcterms:modified>
</cp:coreProperties>
</file>